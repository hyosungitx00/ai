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4E79"/>
                </a:solidFill>
                <a:latin typeface="맑은 고딕"/>
              </a:rPr>
              <a:t>Cursor AI를 활용한 SAP GUI ABAP 바이브 코딩</a:t>
            </a:r>
          </a:p>
          <a:p>
            <a:pPr>
              <a:spcBef>
                <a:spcPts val="1800"/>
              </a:spcBef>
            </a:pPr>
            <a:r>
              <a:rPr sz="1400" b="0">
                <a:solidFill>
                  <a:srgbClr val="595959"/>
                </a:solidFill>
                <a:latin typeface="맑은 고딕"/>
              </a:rPr>
              <a:t>AI 연구과제 결과 보고 | 2026-10-07 | 대상: SAP S/4HANA SE38·SE37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맑은 고딕"/>
              </a:rPr>
              <a:t>요약 — 한 장으로 보는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문제: AI가 SAP에 접속할 수 없어, 테이블명 하나만 틀려도 활성화 실패 → 전량 재작업</a:t>
            </a:r>
          </a:p>
          <a:p>
            <a:r>
              <a:rPr sz="1300" b="0">
                <a:latin typeface="맑은 고딕"/>
              </a:rPr>
              <a:t>• 접근: AI에게 자유를 주는 대신 </a:t>
            </a:r>
            <a:r>
              <a:rPr sz="1300" b="1">
                <a:latin typeface="맑은 고딕"/>
              </a:rPr>
              <a:t>9개 게이트</a:t>
            </a:r>
            <a:r>
              <a:rPr sz="1300" b="0">
                <a:latin typeface="맑은 고딕"/>
              </a:rPr>
              <a:t>로 승인받고, 코드는 </a:t>
            </a:r>
            <a:r>
              <a:rPr sz="1300" b="1">
                <a:latin typeface="맑은 고딕"/>
              </a:rPr>
              <a:t>기계가 검사</a:t>
            </a:r>
            <a:r>
              <a:rPr sz="1300" b="0">
                <a:latin typeface="맑은 고딕"/>
              </a:rPr>
              <a:t>한 뒤 전달</a:t>
            </a:r>
          </a:p>
          <a:p>
            <a:r>
              <a:rPr sz="1300" b="0">
                <a:latin typeface="맑은 고딕"/>
              </a:rPr>
              <a:t>• 차별점: 한 번 겪은 오류를 </a:t>
            </a:r>
            <a:r>
              <a:rPr sz="1300" b="1">
                <a:latin typeface="맑은 고딕"/>
              </a:rPr>
              <a:t>패턴 → 점검 규칙 → 코드 골격</a:t>
            </a:r>
            <a:r>
              <a:rPr sz="1300" b="0">
                <a:latin typeface="맑은 고딕"/>
              </a:rPr>
              <a:t>으로 승격해 재발을 구조적으로 차단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331720"/>
          <a:ext cx="1088136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결과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실전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프로그램 1건, 설계~활성화~운영 이관 전 구간 완료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활성화 품질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Syntax 오류 1건 → 0건, 테스트 T1~T3 전부 통과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자동 점검 도입 효과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기준 샘플 잠복 결함 1건 즉시 발견·수정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현재 코드 품질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ABAP 산출물 6개 전부 오류 0건 (CI 상시 검증)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재발 방지 자산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오류 패턴 10건 · 점검 규칙 17건 · 코드 골격 3종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점검 소요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수동 8항목 대조 → 명령 1회 </a:t>
                      </a:r>
                      <a:r>
                        <a:rPr sz="1100" b="1">
                          <a:latin typeface="맑은 고딕"/>
                        </a:rPr>
                        <a:t>0.04초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맑은 고딕"/>
              </a:rPr>
              <a:t>1. 과제 개요 — 대상 업무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SAP 운영·개발 담당자의 </a:t>
            </a:r>
            <a:r>
              <a:rPr sz="1300" b="1">
                <a:latin typeface="맑은 고딕"/>
              </a:rPr>
              <a:t>커스텀 ABAP 개발 업무</a:t>
            </a:r>
          </a:p>
          <a:p>
            <a:r>
              <a:rPr sz="1300" b="0">
                <a:latin typeface="맑은 고딕"/>
              </a:rPr>
              <a:t>• 주력 범위: 요청 빈도가 가장 높은 2개 유형으로 한정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002536"/>
          <a:ext cx="1088136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트랜잭션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범위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01 ALV 리포트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선택화면 + 조회 + ALV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SE38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주력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03 Function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재사용 로직, 배치 호출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SE37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주력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02 / 04~07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Module Pool·Enhancement·Interface·Batch·Forms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SE80 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확장(템플릿 보유)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346704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대표 요청: "여러 화면을 돌며 눈으로 맞춰 보던 정보를 한 화면에서 조회하게 해 달라"</a:t>
            </a:r>
          </a:p>
          <a:p>
            <a:r>
              <a:rPr sz="1300" b="0">
                <a:latin typeface="맑은 고딕"/>
              </a:rPr>
              <a:t>• 실전 1호가 정확히 이 유형 — 구매요청(PR) 연결 정보 일괄 조회 ALV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맑은 고딕"/>
              </a:rPr>
              <a:t>2. 추진 배경 — 일반 바이브 코딩이 통하지 않는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</a:t>
            </a:r>
            <a:r>
              <a:rPr sz="1300" b="1">
                <a:latin typeface="맑은 고딕"/>
              </a:rPr>
              <a:t>AI가 시스템을 볼 수 없다</a:t>
            </a:r>
            <a:r>
              <a:rPr sz="1300" b="0">
                <a:latin typeface="맑은 고딕"/>
              </a:rPr>
              <a:t> — 접속·실행·디버깅 불가. 사람이 SE38에 손으로 옮겨 활성화</a:t>
            </a:r>
          </a:p>
          <a:p>
            <a:r>
              <a:rPr sz="1300" b="0">
                <a:latin typeface="맑은 고딕"/>
              </a:rPr>
              <a:t>• </a:t>
            </a:r>
            <a:r>
              <a:rPr sz="1300" b="1">
                <a:latin typeface="맑은 고딕"/>
              </a:rPr>
              <a:t>DDIC 환각이 치명적</a:t>
            </a:r>
            <a:r>
              <a:rPr sz="1300" b="0">
                <a:latin typeface="맑은 고딕"/>
              </a:rPr>
              <a:t> — 필드명 하나를 지어내면 활성화 실패 → 오류 회수·수정·재복붙 왕복</a:t>
            </a:r>
          </a:p>
          <a:p>
            <a:r>
              <a:rPr sz="1300" b="0">
                <a:latin typeface="맑은 고딕"/>
              </a:rPr>
              <a:t>• </a:t>
            </a:r>
            <a:r>
              <a:rPr sz="1300" b="1">
                <a:latin typeface="맑은 고딕"/>
              </a:rPr>
              <a:t>릴리스별 문법 차이</a:t>
            </a:r>
            <a:r>
              <a:rPr sz="1300" b="0">
                <a:latin typeface="맑은 고딕"/>
              </a:rPr>
              <a:t> — ECC 6.0 / NW 7.40 / 7.50 / S4에서 쓸 수 있는 문법이 다름</a:t>
            </a:r>
          </a:p>
          <a:p>
            <a:r>
              <a:rPr sz="1300" b="0">
                <a:latin typeface="맑은 고딕"/>
              </a:rPr>
              <a:t>• </a:t>
            </a:r>
            <a:r>
              <a:rPr sz="1300" b="1">
                <a:latin typeface="맑은 고딕"/>
              </a:rPr>
              <a:t>요구사항 오해가 늦게 드러남</a:t>
            </a:r>
            <a:r>
              <a:rPr sz="1300" b="0">
                <a:latin typeface="맑은 고딕"/>
              </a:rPr>
              <a:t> — 코드 완성 후 "원하던 화면이 아니다" → 설계부터 재작업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60904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595959"/>
                </a:solidFill>
                <a:latin typeface="맑은 고딕"/>
              </a:rPr>
              <a:t>핵심 질문은 "AI가 코드를 잘 쓰는가"가 아니라 </a:t>
            </a:r>
            <a:r>
              <a:rPr sz="1300" b="1" i="1">
                <a:solidFill>
                  <a:srgbClr val="595959"/>
                </a:solidFill>
                <a:latin typeface="맑은 고딕"/>
              </a:rPr>
              <a:t>"한 번에 활성화되는 코드가 나오는가"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맑은 고딕"/>
              </a:rPr>
              <a:t>3. 기존 업무 방식 — 구조적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</a:t>
            </a:r>
            <a:r>
              <a:rPr sz="1300" b="1">
                <a:latin typeface="맑은 고딕"/>
              </a:rPr>
              <a:t>요구사항이 말로만 오간다</a:t>
            </a:r>
            <a:r>
              <a:rPr sz="1300" b="0">
                <a:latin typeface="맑은 고딕"/>
              </a:rPr>
              <a:t> — 머릿속 화면이 틀렸다는 사실은 코드가 나온 뒤 드러남</a:t>
            </a:r>
          </a:p>
          <a:p>
            <a:r>
              <a:rPr sz="1300" b="0">
                <a:latin typeface="맑은 고딕"/>
              </a:rPr>
              <a:t>• </a:t>
            </a:r>
            <a:r>
              <a:rPr sz="1300" b="1">
                <a:latin typeface="맑은 고딕"/>
              </a:rPr>
              <a:t>테이블 확인이 매번 처음부터</a:t>
            </a:r>
            <a:r>
              <a:rPr sz="1300" b="0">
                <a:latin typeface="맑은 고딕"/>
              </a:rPr>
              <a:t> — 같은 테이블도 SE11을 다시 열어 받아 적음</a:t>
            </a:r>
          </a:p>
          <a:p>
            <a:r>
              <a:rPr sz="1300" b="0">
                <a:latin typeface="맑은 고딕"/>
              </a:rPr>
              <a:t>• </a:t>
            </a:r>
            <a:r>
              <a:rPr sz="1300" b="1">
                <a:latin typeface="맑은 고딕"/>
              </a:rPr>
              <a:t>코드 품질이 담당자 기억에 의존</a:t>
            </a:r>
            <a:r>
              <a:rPr sz="1300" b="0">
                <a:latin typeface="맑은 고딕"/>
              </a:rPr>
              <a:t> — </a:t>
            </a:r>
            <a:r>
              <a:rPr sz="1300" b="0">
                <a:solidFill>
                  <a:srgbClr val="8B2452"/>
                </a:solidFill>
                <a:latin typeface="Consolas"/>
              </a:rPr>
              <a:t>SELECT *</a:t>
            </a:r>
            <a:r>
              <a:rPr sz="1300" b="0">
                <a:latin typeface="맑은 고딕"/>
              </a:rPr>
              <a:t> 금지, </a:t>
            </a:r>
            <a:r>
              <a:rPr sz="1300" b="0">
                <a:solidFill>
                  <a:srgbClr val="8B2452"/>
                </a:solidFill>
                <a:latin typeface="Consolas"/>
              </a:rPr>
              <a:t>SY-SUBRC</a:t>
            </a:r>
            <a:r>
              <a:rPr sz="1300" b="0">
                <a:latin typeface="맑은 고딕"/>
              </a:rPr>
              <a:t> 확인 등이 바쁠 때 빠짐</a:t>
            </a:r>
          </a:p>
          <a:p>
            <a:r>
              <a:rPr sz="1300" b="0">
                <a:latin typeface="맑은 고딕"/>
              </a:rPr>
              <a:t>• </a:t>
            </a:r>
            <a:r>
              <a:rPr sz="1300" b="1">
                <a:latin typeface="맑은 고딕"/>
              </a:rPr>
              <a:t>같은 오류를 반복</a:t>
            </a:r>
            <a:r>
              <a:rPr sz="1300" b="0">
                <a:latin typeface="맑은 고딕"/>
              </a:rPr>
              <a:t> — 해결책이 개인 경험으로만 남아 다른 사람이 같은 함정에 빠짐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660904"/>
          <a:ext cx="10881360" cy="603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값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담당자 / 빈도 / 1건 공수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[실측 기입] — 측정 양식: </a:t>
                      </a:r>
                      <a:r>
                        <a:rPr sz="1100" b="0">
                          <a:solidFill>
                            <a:srgbClr val="8B2452"/>
                          </a:solidFill>
                          <a:latin typeface="Consolas"/>
                        </a:rPr>
                        <a:t>report/effect-worksheet.md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맑은 고딕"/>
              </a:rPr>
              <a:t>4. 실패 비용 구조 — 게이트를 앞단에 집중시킨 이유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88136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발견 시점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되돌아가는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비용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요구사항 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질문 한 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낮음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화면 컨펌 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화면 설계 재작성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낮음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스펙 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테이블·조인 재설계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중간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활성화 단계(Syntax)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코드 수정 + 복붙 왕복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높음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운영 단계(성능·권한)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장애 대응 + 재이송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매우 높음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182112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오류를 </a:t>
            </a:r>
            <a:r>
              <a:rPr sz="1300" b="1">
                <a:latin typeface="맑은 고딕"/>
              </a:rPr>
              <a:t>앞단에서 잡는 것</a:t>
            </a:r>
            <a:r>
              <a:rPr sz="1300" b="0">
                <a:latin typeface="맑은 고딕"/>
              </a:rPr>
              <a:t>이 이 체계의 설계 목표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맑은 고딕"/>
              </a:rPr>
              <a:t>5. 개선 방법 — 활용 AI 도구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8813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도구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용도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Cursor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주 작업 환경. 저장소 규칙 자동 적용, 인터뷰·설계·코드 생성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Cursor Cloud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저장소 구조 최적화·자동화 도구 개발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범용 LLM (ChatGPT·Claude)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대체 수단. 프롬프트 조각 등록으로 동일 규칙 적용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Python 3 (표준 라이브러리)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자동 점검기 구동. 외부 패키지 불필요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288036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</a:t>
            </a:r>
            <a:r>
              <a:rPr sz="1300" b="1">
                <a:latin typeface="맑은 고딕"/>
              </a:rPr>
              <a:t>SAP 시스템에는 어떤 도구도 설치하지 않음</a:t>
            </a:r>
            <a:r>
              <a:rPr sz="1300" b="0">
                <a:latin typeface="맑은 고딕"/>
              </a:rPr>
              <a:t> — 기존 SE38/SE37 방식을 그대로 두고 앞단만 보강</a:t>
            </a:r>
          </a:p>
          <a:p>
            <a:r>
              <a:rPr sz="1300" b="0">
                <a:latin typeface="맑은 고딕"/>
              </a:rPr>
              <a:t>• 시스템 영향도·보안 검토 부담 없음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맑은 고딕"/>
              </a:rPr>
              <a:t>6. 개선 방법 — 설계 원칙 3가지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</a:t>
            </a:r>
            <a:r>
              <a:rPr sz="1300" b="1">
                <a:latin typeface="맑은 고딕"/>
              </a:rPr>
              <a:t>DDIC 그라운딩</a:t>
            </a:r>
            <a:r>
              <a:rPr sz="1300" b="0">
                <a:latin typeface="맑은 고딕"/>
              </a:rPr>
              <a:t> — 담당자가 확인해 준 값, 또는 과거 활성화로 실재가 증명된 값만 사용. 모르면 추측 코드 대신 질문으로 되돌림. 가정 3건 초과 시 코드 생성 중단</a:t>
            </a:r>
          </a:p>
          <a:p>
            <a:r>
              <a:rPr sz="1300" b="0">
                <a:latin typeface="맑은 고딕"/>
              </a:rPr>
              <a:t>• </a:t>
            </a:r>
            <a:r>
              <a:rPr sz="1300" b="1">
                <a:latin typeface="맑은 고딕"/>
              </a:rPr>
              <a:t>릴리스 게이트</a:t>
            </a:r>
            <a:r>
              <a:rPr sz="1300" b="0">
                <a:latin typeface="맑은 고딕"/>
              </a:rPr>
              <a:t> — 기준 </a:t>
            </a:r>
            <a:r>
              <a:rPr sz="1300" b="0">
                <a:solidFill>
                  <a:srgbClr val="8B2452"/>
                </a:solidFill>
                <a:latin typeface="Consolas"/>
              </a:rPr>
              <a:t>SAP_BASIS 750 / S/4HANA</a:t>
            </a:r>
            <a:r>
              <a:rPr sz="1300" b="0">
                <a:latin typeface="맑은 고딕"/>
              </a:rPr>
              <a:t> 고정, 코드 상단 명시. 보수 문법 필요 건만 ECC 호환으로 폴백</a:t>
            </a:r>
          </a:p>
          <a:p>
            <a:r>
              <a:rPr sz="1300" b="0">
                <a:latin typeface="맑은 고딕"/>
              </a:rPr>
              <a:t>• </a:t>
            </a:r>
            <a:r>
              <a:rPr sz="1300" b="1">
                <a:latin typeface="맑은 고딕"/>
              </a:rPr>
              <a:t>복붙 계약</a:t>
            </a:r>
            <a:r>
              <a:rPr sz="1300" b="0">
                <a:latin typeface="맑은 고딕"/>
              </a:rPr>
              <a:t> — 완전 소스 1개 + 번호 매긴 복사 순서 + DDIC·메시지·T-code 정의서 + T1~T3 테스트 표 + 오류 회수 양식. 담당자가 추가 판단 없이 그대로 옮길 수 있는 상태로만 전달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맑은 고딕"/>
              </a:rPr>
              <a:t>7. 개선 방법 — 진행 절차 9개 게이트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2295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nsolas"/>
              </a:rPr>
              <a:t>[0]   사전준비 1회 ─ 릴리스·패키지·네이밍            │ Gate 0</a:t>
            </a:r>
          </a:p>
          <a:p>
            <a:r>
              <a:rPr sz="1000">
                <a:latin typeface="Consolas"/>
              </a:rPr>
              <a:t>[0.5] 인터뷰 설계 25문항 (한 턴 3문항, [모름] 허용)</a:t>
            </a:r>
          </a:p>
          <a:p>
            <a:r>
              <a:rPr sz="1000">
                <a:latin typeface="Consolas"/>
              </a:rPr>
              <a:t>        │ Gate U   AI 이해 내용 확인서 승인</a:t>
            </a:r>
          </a:p>
          <a:p>
            <a:r>
              <a:rPr sz="1000">
                <a:latin typeface="Consolas"/>
              </a:rPr>
              <a:t>        │ Gate D   화면 텍스트 목업 컨펌</a:t>
            </a:r>
          </a:p>
          <a:p>
            <a:r>
              <a:rPr sz="1000">
                <a:latin typeface="Consolas"/>
              </a:rPr>
              <a:t>        │ Gate D-2 화면 이미지 재검증 (S1 선택화면 / S2 결과 분리)</a:t>
            </a:r>
          </a:p>
          <a:p>
            <a:r>
              <a:rPr sz="1000">
                <a:latin typeface="Consolas"/>
              </a:rPr>
              <a:t>        │ Gate F   필드 연결표·조인·구현 방식 승인</a:t>
            </a:r>
          </a:p>
          <a:p>
            <a:r>
              <a:rPr sz="1000">
                <a:latin typeface="Consolas"/>
              </a:rPr>
              <a:t>[1]   DDIC 캐시 확인 → 부족분만 SE11 수집            │ Gate 1 ★빈칸 시 코드 금지</a:t>
            </a:r>
          </a:p>
          <a:p>
            <a:r>
              <a:rPr sz="1000">
                <a:latin typeface="Consolas"/>
              </a:rPr>
              <a:t>[2]   스펙 확정                                     │ Gate 2 "OK" 전 코드 금지</a:t>
            </a:r>
          </a:p>
          <a:p>
            <a:r>
              <a:rPr sz="1000">
                <a:latin typeface="Consolas"/>
              </a:rPr>
              <a:t>[3]   코드 생성 (골격 복제 → 세션 값 교체)            │ Gate 3 자동 점검 오류 0건</a:t>
            </a:r>
          </a:p>
          <a:p>
            <a:r>
              <a:rPr sz="1000">
                <a:latin typeface="Consolas"/>
              </a:rPr>
              <a:t>[4]   활성화 → 실행 테스트 → 오류 회수·수정           │ Gate 4 결과 회수 전 이관 금지</a:t>
            </a:r>
          </a:p>
          <a:p>
            <a:r>
              <a:rPr sz="1000">
                <a:latin typeface="Consolas"/>
              </a:rPr>
              <a:t>[5]   운영 이관 → 패턴·DDIC 캐시 승격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3931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전 구간이 </a:t>
            </a:r>
            <a:r>
              <a:rPr sz="1300" b="1">
                <a:latin typeface="맑은 고딕"/>
              </a:rPr>
              <a:t>AI가 묻고 담당자가 답하는 형식</a:t>
            </a:r>
            <a:r>
              <a:rPr sz="1300" b="0">
                <a:latin typeface="맑은 고딕"/>
              </a:rPr>
              <a:t> (설계 25문항 + 검증·이관 12문항 = 37문항)</a:t>
            </a:r>
          </a:p>
          <a:p>
            <a:r>
              <a:rPr sz="1300" b="0">
                <a:latin typeface="맑은 고딕"/>
              </a:rPr>
              <a:t>• 담당자는 양식을 작성하지 않음. 모르는 항목은 </a:t>
            </a:r>
            <a:r>
              <a:rPr sz="1300" b="0">
                <a:solidFill>
                  <a:srgbClr val="8B2452"/>
                </a:solidFill>
                <a:latin typeface="Consolas"/>
              </a:rPr>
              <a:t>[모름]</a:t>
            </a:r>
            <a:r>
              <a:rPr sz="1300" b="0">
                <a:latin typeface="맑은 고딕"/>
              </a:rPr>
              <a:t>으로 넘김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맑은 고딕"/>
              </a:rPr>
              <a:t>8. 개선 방법 — Gate 3 자동 점검기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nsolas"/>
              </a:rPr>
              <a:t>$ python3 tools/abap_check.py sessions/.../code.abap</a:t>
            </a:r>
          </a:p>
          <a:p>
            <a:r>
              <a:rPr sz="1000">
                <a:latin typeface="Consolas"/>
              </a:rPr>
              <a:t>  ERROR  L47  CHK-005  사전 필드 `VBAK-...`를 참조하는데 `TABLES vbak.` 선언이 없습니다.</a:t>
            </a:r>
          </a:p>
          <a:p>
            <a:r>
              <a:rPr sz="1000">
                <a:latin typeface="Consolas"/>
              </a:rPr>
              <a:t>                       근거 ERR-006 · 처방: 코드 상단에 `TABLES &lt;테이블&gt;.` 선언을 추가하십시오.</a:t>
            </a:r>
          </a:p>
          <a:p>
            <a:r>
              <a:rPr sz="1000">
                <a:latin typeface="Consolas"/>
              </a:rPr>
              <a:t>  ERROR  L92  CHK-004  SELECT 직후 `SY-SUBRC` 체크가 없습니다.</a:t>
            </a:r>
          </a:p>
          <a:p>
            <a:r>
              <a:rPr sz="1000">
                <a:latin typeface="Consolas"/>
              </a:rPr>
              <a:t>요약: 파일 1개 · 오류 2건 · 경고 0건</a:t>
            </a:r>
          </a:p>
          <a:p>
            <a:r>
              <a:rPr sz="1000">
                <a:latin typeface="Consolas"/>
              </a:rPr>
              <a:t>Gate 3 미통과 — 오류 0건이 될 때까지 코드를 사용자에게 제시하지 마십시오.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79192"/>
            <a:ext cx="10881360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17개 규칙 — </a:t>
            </a:r>
            <a:r>
              <a:rPr sz="1300" b="0">
                <a:solidFill>
                  <a:srgbClr val="8B2452"/>
                </a:solidFill>
                <a:latin typeface="Consolas"/>
              </a:rPr>
              <a:t>SELECT *</a:t>
            </a:r>
            <a:r>
              <a:rPr sz="1300" b="0">
                <a:latin typeface="맑은 고딕"/>
              </a:rPr>
              <a:t>·루프 내 SELECT·</a:t>
            </a:r>
            <a:r>
              <a:rPr sz="1300" b="0">
                <a:solidFill>
                  <a:srgbClr val="8B2452"/>
                </a:solidFill>
                <a:latin typeface="Consolas"/>
              </a:rPr>
              <a:t>FOR ALL ENTRIES</a:t>
            </a:r>
            <a:r>
              <a:rPr sz="1300" b="0">
                <a:latin typeface="맑은 고딕"/>
              </a:rPr>
              <a:t> 빈 체크·</a:t>
            </a:r>
            <a:r>
              <a:rPr sz="1300" b="0">
                <a:solidFill>
                  <a:srgbClr val="8B2452"/>
                </a:solidFill>
                <a:latin typeface="Consolas"/>
              </a:rPr>
              <a:t>SY-SUBRC</a:t>
            </a:r>
            <a:r>
              <a:rPr sz="1300" b="0">
                <a:latin typeface="맑은 고딕"/>
              </a:rPr>
              <a:t>·</a:t>
            </a:r>
            <a:r>
              <a:rPr sz="1300" b="0">
                <a:solidFill>
                  <a:srgbClr val="8B2452"/>
                </a:solidFill>
                <a:latin typeface="Consolas"/>
              </a:rPr>
              <a:t>TABLES</a:t>
            </a:r>
            <a:r>
              <a:rPr sz="1300" b="0">
                <a:latin typeface="맑은 고딕"/>
              </a:rPr>
              <a:t> 선언 등</a:t>
            </a:r>
          </a:p>
          <a:p>
            <a:r>
              <a:rPr sz="1300" b="0">
                <a:latin typeface="맑은 고딕"/>
              </a:rPr>
              <a:t>• 지적마다 </a:t>
            </a:r>
            <a:r>
              <a:rPr sz="1300" b="1">
                <a:latin typeface="맑은 고딕"/>
              </a:rPr>
              <a:t>근거 패턴 ID + 처방 한 줄</a:t>
            </a:r>
            <a:r>
              <a:rPr sz="1300" b="0">
                <a:latin typeface="맑은 고딕"/>
              </a:rPr>
              <a:t> → 결과를 그대로 AI에 돌려주면 수정됨</a:t>
            </a:r>
          </a:p>
          <a:p>
            <a:r>
              <a:rPr sz="1300" b="0">
                <a:latin typeface="맑은 고딕"/>
              </a:rPr>
              <a:t>• 소요 </a:t>
            </a:r>
            <a:r>
              <a:rPr sz="1300" b="1">
                <a:latin typeface="맑은 고딕"/>
              </a:rPr>
              <a:t>0.04초</a:t>
            </a:r>
            <a:r>
              <a:rPr sz="1300" b="0">
                <a:latin typeface="맑은 고딕"/>
              </a:rPr>
              <a:t>. 기계가 판별 못하는 항목은 "사람 판단"으로 명시 분리</a:t>
            </a:r>
          </a:p>
          <a:p>
            <a:r>
              <a:rPr sz="1300" b="0">
                <a:latin typeface="맑은 고딕"/>
              </a:rPr>
              <a:t>• 자체 테스트 32항목으로 점검기 자체의 신뢰성 보증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맑은 고딕"/>
              </a:rPr>
              <a:t>9. 개선 방법 — 오류가 자산이 되는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nsolas"/>
              </a:rPr>
              <a:t>① 활성화 실패 발생</a:t>
            </a:r>
          </a:p>
          <a:p>
            <a:r>
              <a:rPr sz="1000">
                <a:latin typeface="Consolas"/>
              </a:rPr>
              <a:t>      ↓ 오류 전문 회수 (양식 고정)</a:t>
            </a:r>
          </a:p>
          <a:p>
            <a:r>
              <a:rPr sz="1000">
                <a:latin typeface="Consolas"/>
              </a:rPr>
              <a:t>② practice/error-patterns.md 패턴 승격 (ERR / MSG / PROC)</a:t>
            </a:r>
          </a:p>
          <a:p>
            <a:r>
              <a:rPr sz="1000">
                <a:latin typeface="Consolas"/>
              </a:rPr>
              <a:t>      ↓ 기계 판별 가능하면</a:t>
            </a:r>
          </a:p>
          <a:p>
            <a:r>
              <a:rPr sz="1000">
                <a:latin typeface="Consolas"/>
              </a:rPr>
              <a:t>③ tools/abap_check.py 규칙 추가 → 코드 제시 전 자동 차단</a:t>
            </a:r>
          </a:p>
          <a:p>
            <a:r>
              <a:rPr sz="1000">
                <a:latin typeface="Consolas"/>
              </a:rPr>
              <a:t>      ↓ 모든 신규 프로그램에 해당하면</a:t>
            </a:r>
          </a:p>
          <a:p>
            <a:r>
              <a:rPr sz="1000">
                <a:latin typeface="Consolas"/>
              </a:rPr>
              <a:t>④ templates/abap/ 코드 골격 선반영 → 애초에 그렇게 생성됨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71216"/>
            <a:ext cx="108813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실제 사례: </a:t>
            </a:r>
            <a:r>
              <a:rPr sz="1300" b="0">
                <a:solidFill>
                  <a:srgbClr val="8B2452"/>
                </a:solidFill>
                <a:latin typeface="Consolas"/>
              </a:rPr>
              <a:t>SELECT-OPTIONS FOR eban-badat</a:t>
            </a:r>
            <a:r>
              <a:rPr sz="1300" b="0">
                <a:latin typeface="맑은 고딕"/>
              </a:rPr>
              <a:t> 에 </a:t>
            </a:r>
            <a:r>
              <a:rPr sz="1300" b="0">
                <a:solidFill>
                  <a:srgbClr val="8B2452"/>
                </a:solidFill>
                <a:latin typeface="Consolas"/>
              </a:rPr>
              <a:t>TABLES eban.</a:t>
            </a:r>
            <a:r>
              <a:rPr sz="1300" b="0">
                <a:latin typeface="맑은 고딕"/>
              </a:rPr>
              <a:t> 누락 → 활성화 실패 → </a:t>
            </a:r>
            <a:r>
              <a:rPr sz="1300" b="0">
                <a:solidFill>
                  <a:srgbClr val="8B2452"/>
                </a:solidFill>
                <a:latin typeface="Consolas"/>
              </a:rPr>
              <a:t>ERR-006</a:t>
            </a:r>
            <a:r>
              <a:rPr sz="1300" b="0">
                <a:latin typeface="맑은 고딕"/>
              </a:rPr>
              <a:t> 패턴 → </a:t>
            </a:r>
            <a:r>
              <a:rPr sz="1300" b="0">
                <a:solidFill>
                  <a:srgbClr val="8B2452"/>
                </a:solidFill>
                <a:latin typeface="Consolas"/>
              </a:rPr>
              <a:t>CHK-005</a:t>
            </a:r>
            <a:r>
              <a:rPr sz="1300" b="0">
                <a:latin typeface="맑은 고딕"/>
              </a:rPr>
              <a:t> 규칙 → 골격 3종 선반영</a:t>
            </a:r>
          </a:p>
          <a:p>
            <a:r>
              <a:rPr sz="1300" b="0">
                <a:latin typeface="맑은 고딕"/>
              </a:rPr>
              <a:t>• </a:t>
            </a:r>
            <a:r>
              <a:rPr sz="1300" b="1">
                <a:latin typeface="맑은 고딕"/>
              </a:rPr>
              <a:t>현재 동일 오류는 담당자에게 전달되기 전에 기계가 차단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맑은 고딕"/>
              </a:rPr>
              <a:t>10. 개선 효과 — 검증된 정량 지표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88136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As-Is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To-Be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품질 점검 방식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수동 체크리스트 8항목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자동 점검 17규칙 · 0.04초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점검 누락 가능성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기억·집중도 의존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종료코드로 강제 차단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잠복 결함 발견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기준 샘플에서 1건 발견·수정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ABAP 산출물 품질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6개 파일 오류 0건 (CI 상시)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재발 방지 자산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개인 경험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패턴 10 + 규칙 17 + 골격 3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코드 작성 출발점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빈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골격(패턴 선반영)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요구사항 확인 시점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코드 완성 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화면·필드 단계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785616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모두 저장소에서 명령으로 </a:t>
            </a:r>
            <a:r>
              <a:rPr sz="1300" b="1">
                <a:latin typeface="맑은 고딕"/>
              </a:rPr>
              <a:t>재현 가능한 실측값</a:t>
            </a:r>
            <a:r>
              <a:rPr sz="1300" b="0">
                <a:latin typeface="맑은 고딕"/>
              </a:rPr>
              <a:t> (재현 명령은 리포트 부록 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맑은 고딕"/>
              </a:rPr>
              <a:t>11. 개선 효과 — 실전 적용 사례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88136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내용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프로그램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B2452"/>
                          </a:solidFill>
                          <a:latin typeface="Consolas"/>
                        </a:rPr>
                        <a:t>ZMM_PR_LINK_ALV01</a:t>
                      </a:r>
                      <a:r>
                        <a:rPr sz="1100" b="0">
                          <a:latin typeface="맑은 고딕"/>
                        </a:rPr>
                        <a:t> (SE38 실행 리포트, 패키지 </a:t>
                      </a:r>
                      <a:r>
                        <a:rPr sz="1100" b="0">
                          <a:solidFill>
                            <a:srgbClr val="8B2452"/>
                          </a:solidFill>
                          <a:latin typeface="Consolas"/>
                        </a:rPr>
                        <a:t>ZMM01</a:t>
                      </a:r>
                      <a:r>
                        <a:rPr sz="1100" b="0">
                          <a:latin typeface="맑은 고딕"/>
                        </a:rPr>
                        <a:t>)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업무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구매요청(PR) 연결 정보 일괄 조회 — WBS·판매오더·구매오더·입고·송장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요구사항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인터뷰 접수. 담당자가 테이블을 </a:t>
                      </a:r>
                      <a:r>
                        <a:rPr sz="1100" b="1">
                          <a:latin typeface="맑은 고딕"/>
                        </a:rPr>
                        <a:t>몰라도</a:t>
                      </a:r>
                      <a:r>
                        <a:rPr sz="1100" b="0">
                          <a:latin typeface="맑은 고딕"/>
                        </a:rPr>
                        <a:t> 설계 완주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화면 확정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텍스트 컨펌 → 이미지 1차 반려 → 분리형 재제출 후 컨펌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활성화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Syntax 오류 1건(</a:t>
                      </a:r>
                      <a:r>
                        <a:rPr sz="1100" b="0">
                          <a:solidFill>
                            <a:srgbClr val="8B2452"/>
                          </a:solidFill>
                          <a:latin typeface="Consolas"/>
                        </a:rPr>
                        <a:t>ERR-006</a:t>
                      </a:r>
                      <a:r>
                        <a:rPr sz="1100" b="0">
                          <a:latin typeface="맑은 고딕"/>
                        </a:rPr>
                        <a:t>) → 수정 후 </a:t>
                      </a:r>
                      <a:r>
                        <a:rPr sz="1100" b="1">
                          <a:latin typeface="맑은 고딕"/>
                        </a:rPr>
                        <a:t>0건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실행 테스트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T1 정상 / T2·T3 규정 메시지 — </a:t>
                      </a:r>
                      <a:r>
                        <a:rPr sz="1100" b="1">
                          <a:latin typeface="맑은 고딕"/>
                        </a:rPr>
                        <a:t>전부 통과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운영 이관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권한 목록·TR 초안·배치잡 판정까지 완료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승격 자산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8B2452"/>
                          </a:solidFill>
                          <a:latin typeface="Consolas"/>
                        </a:rPr>
                        <a:t>ERR-006</a:t>
                      </a:r>
                      <a:r>
                        <a:rPr sz="1100" b="0">
                          <a:latin typeface="맑은 고딕"/>
                        </a:rPr>
                        <a:t> · </a:t>
                      </a:r>
                      <a:r>
                        <a:rPr sz="1100" b="0">
                          <a:solidFill>
                            <a:srgbClr val="8B2452"/>
                          </a:solidFill>
                          <a:latin typeface="Consolas"/>
                        </a:rPr>
                        <a:t>MSG-002</a:t>
                      </a:r>
                      <a:r>
                        <a:rPr sz="1100" b="0">
                          <a:latin typeface="맑은 고딕"/>
                        </a:rPr>
                        <a:t> · </a:t>
                      </a:r>
                      <a:r>
                        <a:rPr sz="1100" b="0">
                          <a:solidFill>
                            <a:srgbClr val="8B2452"/>
                          </a:solidFill>
                          <a:latin typeface="Consolas"/>
                        </a:rPr>
                        <a:t>PROC-001</a:t>
                      </a:r>
                      <a:r>
                        <a:rPr sz="1100" b="0">
                          <a:latin typeface="맑은 고딕"/>
                        </a:rPr>
                        <a:t> 3건 등록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4087368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</a:t>
            </a:r>
            <a:r>
              <a:rPr sz="1300" b="1">
                <a:latin typeface="맑은 고딕"/>
              </a:rPr>
              <a:t>데모가 아니라 실제 시스템에 활성화되어 운영 이관까지 끝난 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맑은 고딕"/>
              </a:rPr>
              <a:t>12. 개선 효과 — 절감 측정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Consolas"/>
              </a:rPr>
              <a:t>① 1건 절감 공수 = As-Is 공수 − To-Be 공수</a:t>
            </a:r>
          </a:p>
          <a:p>
            <a:r>
              <a:rPr sz="1000">
                <a:latin typeface="Consolas"/>
              </a:rPr>
              <a:t>② 절감률(%)     = ① ÷ As-Is 공수 × 100</a:t>
            </a:r>
          </a:p>
          <a:p>
            <a:r>
              <a:rPr sz="1000">
                <a:latin typeface="Consolas"/>
              </a:rPr>
              <a:t>③ 연간 절감 공수 = ① × 연간 건수</a:t>
            </a:r>
          </a:p>
          <a:p>
            <a:r>
              <a:rPr sz="1000">
                <a:latin typeface="Consolas"/>
              </a:rPr>
              <a:t>④ 연간 절감 금액 = ③ × 시간당 인건비</a:t>
            </a:r>
          </a:p>
          <a:p>
            <a:r>
              <a:rPr sz="1000">
                <a:latin typeface="Consolas"/>
              </a:rPr>
              <a:t>⑤ 재작업 회피   = (As-Is 재시도 − To-Be 재시도) × 1회 왕복 공수 × 연간 건수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87168"/>
            <a:ext cx="108813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To-Be 활성화 재시도 </a:t>
            </a:r>
            <a:r>
              <a:rPr sz="1300" b="1">
                <a:latin typeface="맑은 고딕"/>
              </a:rPr>
              <a:t>1회</a:t>
            </a:r>
            <a:r>
              <a:rPr sz="1300" b="0">
                <a:latin typeface="맑은 고딕"/>
              </a:rPr>
              <a:t>(실측), 코드 생성 후 요구사항 재작업 </a:t>
            </a:r>
            <a:r>
              <a:rPr sz="1300" b="1">
                <a:latin typeface="맑은 고딕"/>
              </a:rPr>
              <a:t>0회</a:t>
            </a:r>
            <a:r>
              <a:rPr sz="1300" b="0">
                <a:latin typeface="맑은 고딕"/>
              </a:rPr>
              <a:t>(실측)</a:t>
            </a:r>
          </a:p>
          <a:p>
            <a:r>
              <a:rPr sz="1300" b="0">
                <a:latin typeface="맑은 고딕"/>
              </a:rPr>
              <a:t>• As-Is 공수·연간 건수·인건비는 사내 실측값 필요 → </a:t>
            </a:r>
            <a:r>
              <a:rPr sz="1300" b="0">
                <a:solidFill>
                  <a:srgbClr val="8B2452"/>
                </a:solidFill>
                <a:latin typeface="Consolas"/>
              </a:rPr>
              <a:t>report/effect-worksheet.md</a:t>
            </a:r>
            <a:r>
              <a:rPr sz="1300" b="0">
                <a:latin typeface="맑은 고딕"/>
              </a:rPr>
              <a:t>에 기입</a:t>
            </a:r>
          </a:p>
          <a:p>
            <a:r>
              <a:rPr sz="1300" b="0">
                <a:latin typeface="맑은 고딕"/>
              </a:rPr>
              <a:t>• </a:t>
            </a:r>
            <a:r>
              <a:rPr sz="1300" b="1">
                <a:latin typeface="맑은 고딕"/>
              </a:rPr>
              <a:t>측정 주의</a:t>
            </a:r>
            <a:r>
              <a:rPr sz="1300" b="0">
                <a:latin typeface="맑은 고딕"/>
              </a:rPr>
              <a:t>: To-Be 공수에 인터뷰 응답 시간을 포함해야 함 (빼면 절감 과대 계상)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맑은 고딕"/>
              </a:rPr>
              <a:t>13. 확산 가능성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88136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확산 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재사용 자산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추가 필요 작업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모듈 (SD·MM·FI·PP)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규칙·절차·점검기·골격 전부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모듈별 DDIC 캐시 축적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인원 (같은 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저장소 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없음 — Cursor로 열면 규칙 자동 적용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유형 (Module Pool·Interface 등)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요구사항 템플릿 5종 보유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유형별 코드 골격 추가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부문 (타 SAP 개발 조직)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규칙·절차·점검기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네이밍·패키지·권한 규칙 교체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도구 (Cursor 미사용)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규칙 전문 + 프롬프트 조각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해당 도구에 지침 등록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182112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사내 고유 정보가 </a:t>
            </a:r>
            <a:r>
              <a:rPr sz="1300" b="1">
                <a:latin typeface="맑은 고딕"/>
              </a:rPr>
              <a:t>3개 파일로 격리</a:t>
            </a:r>
            <a:r>
              <a:rPr sz="1300" b="0">
                <a:latin typeface="맑은 고딕"/>
              </a:rPr>
              <a:t> — 시스템 컨텍스트 / DDIC 캐시 / 오류 패턴</a:t>
            </a:r>
          </a:p>
          <a:p>
            <a:r>
              <a:rPr sz="1300" b="0">
                <a:latin typeface="맑은 고딕"/>
              </a:rPr>
              <a:t>• SAP 외 영역 이식 가능: "AI가 직접 실행할 수 없고 사람이 결과를 옮기는" 업무면 동일 설계 적용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맑은 고딕"/>
              </a:rPr>
              <a:t>14. 향후 계획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88136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완료 기준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1 적용 확대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조회성 리포트 중심 세션 누적, 모듈별 DDIC 캐시 확보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세션 5건 이상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2 </a:t>
                      </a:r>
                      <a:r>
                        <a:rPr sz="1100" b="1">
                          <a:latin typeface="맑은 고딕"/>
                        </a:rPr>
                        <a:t>측정 체계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세션별 공수·재시도 횟수를 </a:t>
                      </a:r>
                      <a:r>
                        <a:rPr sz="1100" b="0">
                          <a:solidFill>
                            <a:srgbClr val="8B2452"/>
                          </a:solidFill>
                          <a:latin typeface="Consolas"/>
                        </a:rPr>
                        <a:t>verify.md</a:t>
                      </a:r>
                      <a:r>
                        <a:rPr sz="1100" b="0">
                          <a:latin typeface="맑은 고딕"/>
                        </a:rPr>
                        <a:t> 표준 기록 항목화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정량 실측값 확보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3 유형 확장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Module Pool·Interface 등 코드 골격 추가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유형별 골격·규칙 보강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4 팀 확산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적용 가이드 공유, 패턴 공동 축적 운영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다수 담당자 사용, 패턴 20건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5 규칙 심화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운영 중 발생 오류를 규칙으로 승격, 성능 규칙 확대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규칙 25건 이상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182112"/>
            <a:ext cx="10881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</a:t>
            </a:r>
            <a:r>
              <a:rPr sz="1300" b="1">
                <a:latin typeface="맑은 고딕"/>
              </a:rPr>
              <a:t>2단계를 우선 과제로 설정</a:t>
            </a:r>
            <a:r>
              <a:rPr sz="1300" b="0">
                <a:latin typeface="맑은 고딕"/>
              </a:rPr>
              <a:t> — 공수 기록이 세션 산출물에 없어 현재는 사후 추정이 필요. 표준 기록 항목을 넣으면 이후 세션부터 절감 효과가 자동 집계됨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맑은 고딕"/>
              </a:rPr>
              <a:t>15. 리스크와 대응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8813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리스크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대응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DDIC 캐시 오염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승격 근거를 SE11 출력·활성화 성공 기록으로 제한, AI 자체 추가 금지 명문화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자동 점검 과신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점검기 미대응 항목을 "사람 판단"으로 명시 분리, 리뷰 체크리스트 유지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게이트 피로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간이 경로를 만들지 않음. 게이트 생략이 재작업보다 비싸다는 점을 사례로 공유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담당자 1인 의존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패턴·캐시·세션 기록을 저장소에 강제 축적 (이미 적용 중)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  <a:latin typeface="맑은 고딕"/>
              </a:rPr>
              <a:t>16. 평가 기준 대응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234440"/>
          <a:ext cx="108813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01752"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평가 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배점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맑은 고딕"/>
                        </a:rPr>
                        <a:t>대응 근거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효과성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저장소 재현 가능 실측 7지표, 오류 감소 6지표, 절감 계산식 + 측정 양식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실제 적용도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실전 1건 — SAP 활성화·T1~T3 통과·운영 이관 완료, 세션 기록 원본 보유, CI 상시 운영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확산 가능성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5개 확산 축별 재사용 자산 구분, 고유 정보 3파일 격리, 도구 비종속</a:t>
                      </a:r>
                    </a:p>
                  </a:txBody>
                  <a:tcPr/>
                </a:tc>
              </a:tr>
              <a:tr h="301752"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완성도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맑은 고딕"/>
                        </a:rPr>
                        <a:t>리포트 Word·PPT 동시 제공, 시연 영상 시나리오, 근거 재현 명령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2880360"/>
            <a:ext cx="10881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latin typeface="맑은 고딕"/>
              </a:rPr>
              <a:t>• 상세 리포트: </a:t>
            </a:r>
            <a:r>
              <a:rPr sz="1300" b="0">
                <a:solidFill>
                  <a:srgbClr val="8B2452"/>
                </a:solidFill>
                <a:latin typeface="Consolas"/>
              </a:rPr>
              <a:t>report/ai-abap-result-report.md</a:t>
            </a:r>
          </a:p>
          <a:p>
            <a:r>
              <a:rPr sz="1300" b="0">
                <a:latin typeface="맑은 고딕"/>
              </a:rPr>
              <a:t>• 측정 양식: </a:t>
            </a:r>
            <a:r>
              <a:rPr sz="1300" b="0">
                <a:solidFill>
                  <a:srgbClr val="8B2452"/>
                </a:solidFill>
                <a:latin typeface="Consolas"/>
              </a:rPr>
              <a:t>report/effect-worksheet.md</a:t>
            </a:r>
            <a:r>
              <a:rPr sz="1300" b="0">
                <a:latin typeface="맑은 고딕"/>
              </a:rPr>
              <a:t> · 영상 시나리오: </a:t>
            </a:r>
            <a:r>
              <a:rPr sz="1300" b="0">
                <a:solidFill>
                  <a:srgbClr val="8B2452"/>
                </a:solidFill>
                <a:latin typeface="Consolas"/>
              </a:rPr>
              <a:t>report/demo-video-script.md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