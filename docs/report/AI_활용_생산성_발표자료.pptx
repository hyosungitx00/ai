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6"/>
  </p:notesMasterIdLst>
  <p:sldIdLst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776"/>
    <a:srgbClr val="8FAADC"/>
    <a:srgbClr val="DAE3F3"/>
    <a:srgbClr val="FFFFFF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9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1.xml"/><Relationship Id="rId32" Type="http://schemas.openxmlformats.org/officeDocument/2006/relationships/slide" Target="slides/slide2.xml"/><Relationship Id="rId33" Type="http://schemas.openxmlformats.org/officeDocument/2006/relationships/slide" Target="slides/slide3.xml"/><Relationship Id="rId34" Type="http://schemas.openxmlformats.org/officeDocument/2006/relationships/slide" Target="slides/slide4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43" Type="http://schemas.openxmlformats.org/officeDocument/2006/relationships/slide" Target="slides/slide13.xml"/><Relationship Id="rId44" Type="http://schemas.openxmlformats.org/officeDocument/2006/relationships/slide" Target="slides/slide14.xml"/><Relationship Id="rId4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E405D-142B-4652-8A8D-F1AE9E39E283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D6BDF-1818-4A7D-B735-B53E7B4BD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94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페이지 번호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450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페이지 번호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724400" y="64834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EA726-A573-4B4F-AB82-8A3DAF433AF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0169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281B4-C3F8-4BA7-BE9D-E95756D879BB}" type="datetime1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EA726-A573-4B4F-AB82-8A3DAF433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50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그룹 3"/>
          <p:cNvGrpSpPr/>
          <p:nvPr/>
        </p:nvGrpSpPr>
        <p:grpSpPr>
          <a:xfrm>
            <a:off x="2165963" y="1744610"/>
            <a:ext cx="6735249" cy="1389292"/>
            <a:chOff x="2097383" y="2206038"/>
            <a:chExt cx="6735249" cy="1389292"/>
          </a:xfrm>
        </p:grpSpPr>
        <p:sp>
          <p:nvSpPr>
            <p:cNvPr id="5" name="직사각형 4"/>
            <p:cNvSpPr/>
            <p:nvPr/>
          </p:nvSpPr>
          <p:spPr>
            <a:xfrm>
              <a:off x="2111156" y="2206038"/>
              <a:ext cx="6041498" cy="83099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4000" b="1" dirty="0" smtClean="0">
                  <a:solidFill>
                    <a:srgbClr val="002060"/>
                  </a:solidFill>
                  <a:latin typeface="+mj-ea"/>
                  <a:ea typeface="+mj-ea"/>
                </a:rPr>
                <a:t>HYOSUNG ITX</a:t>
              </a:r>
              <a:endParaRPr lang="en-US" altLang="ko-K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Malgun Gothic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097383" y="2837109"/>
              <a:ext cx="6735249" cy="75822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4000" b="1" dirty="0" smtClean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TECH SEMINAR</a:t>
              </a:r>
              <a:endParaRPr lang="en-US" altLang="ko-KR" sz="4000" b="1" dirty="0" smtClean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algun Gothic" charset="-127"/>
              </a:endParaRPr>
            </a:p>
          </p:txBody>
        </p:sp>
      </p:grpSp>
      <p:sp>
        <p:nvSpPr>
          <p:cNvPr id="7" name="직사각형 6"/>
          <p:cNvSpPr/>
          <p:nvPr/>
        </p:nvSpPr>
        <p:spPr>
          <a:xfrm>
            <a:off x="0" y="1320114"/>
            <a:ext cx="1844040" cy="2324100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5611" y="3290334"/>
            <a:ext cx="4745405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en-US" altLang="ko-KR" sz="12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12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60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60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6119814" y="3390561"/>
            <a:ext cx="607218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00785" y="3390561"/>
            <a:ext cx="88477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53554" y="4524060"/>
            <a:ext cx="1884892" cy="283366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70000"/>
              </a:lnSpc>
            </a:pPr>
            <a:r>
              <a:rPr lang="en-US" altLang="ko-KR" sz="1600" b="1" i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2026</a:t>
            </a:r>
            <a:endParaRPr lang="en-US" altLang="ko-KR" sz="16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 rot="5400000" flipH="1">
            <a:off x="5703570" y="369565"/>
            <a:ext cx="784860" cy="121920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-990615" y="69574"/>
            <a:ext cx="646331" cy="391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4560" y="37490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2060"/>
                </a:solidFill>
                <a:latin typeface="맑은 고딕"/>
              </a:rPr>
              <a:t>같은 AI를 쓰는데 왜 생산성은 차이 날까?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343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맑은 고딕"/>
              </a:rPr>
              <a:t>AI 시대 SAP 개발자의 생존 전략과 업무 혁신 방법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2179736" y="1087319"/>
            <a:ext cx="2639914" cy="82477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dirty="0" smtClean="0">
                <a:solidFill>
                  <a:srgbClr val="002060"/>
                </a:solidFill>
                <a:latin typeface="+mj-ea"/>
                <a:ea typeface="+mj-ea"/>
              </a:rPr>
              <a:t>C</a:t>
            </a:r>
            <a:r>
              <a:rPr lang="en-US" altLang="ko-KR" sz="4000" b="1" dirty="0" smtClean="0">
                <a:solidFill>
                  <a:schemeClr val="bg2">
                    <a:lumMod val="50000"/>
                  </a:schemeClr>
                </a:solidFill>
                <a:latin typeface="+mj-ea"/>
              </a:rPr>
              <a:t>ontents</a:t>
            </a:r>
            <a:endParaRPr lang="en-US" altLang="ko-KR" sz="4000" b="1" dirty="0">
              <a:solidFill>
                <a:schemeClr val="bg2">
                  <a:lumMod val="50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949325"/>
            <a:ext cx="1844040" cy="5123814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5611" y="1842534"/>
            <a:ext cx="4745405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en-US" altLang="ko-KR" sz="1050" b="1" spc="0" dirty="0">
                <a:solidFill>
                  <a:schemeClr val="bg1">
                    <a:lumMod val="50000"/>
                  </a:schemeClr>
                </a:solidFill>
                <a:latin typeface="+mj-ea"/>
                <a:ea typeface="맑은 고딕" panose="020B0503020000020004" pitchFamily="50" charset="-127"/>
              </a:rPr>
              <a:t>Digital Transformation Leader</a:t>
            </a:r>
            <a:r>
              <a:rPr lang="en-US" altLang="ko-KR" sz="1050" b="1" spc="0" dirty="0">
                <a:solidFill>
                  <a:schemeClr val="tx2"/>
                </a:solidFill>
                <a:latin typeface="+mj-ea"/>
                <a:ea typeface="맑은 고딕" panose="020B0503020000020004" pitchFamily="50" charset="-127"/>
              </a:rPr>
              <a:t> </a:t>
            </a:r>
            <a:r>
              <a:rPr lang="en-US" altLang="ko-KR" sz="1200" b="1" spc="0" dirty="0">
                <a:solidFill>
                  <a:srgbClr val="113462"/>
                </a:solidFill>
                <a:latin typeface="+mj-ea"/>
                <a:ea typeface="맑은 고딕" panose="020B0503020000020004" pitchFamily="50" charset="-127"/>
              </a:rPr>
              <a:t>HYOSUNG ITX</a:t>
            </a:r>
            <a:endParaRPr lang="en-US" altLang="ko-KR" sz="1200" b="1" i="1" spc="0" dirty="0">
              <a:solidFill>
                <a:srgbClr val="113462"/>
              </a:solidFill>
              <a:latin typeface="+mj-ea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67350" y="1942761"/>
            <a:ext cx="67246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200785" y="1942761"/>
            <a:ext cx="88477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2710692" y="2304399"/>
            <a:ext cx="1912127" cy="24536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4800" indent="-304800">
              <a:lnSpc>
                <a:spcPct val="150000"/>
              </a:lnSpc>
              <a:buAutoNum type="arabicPeriod"/>
            </a:pPr>
            <a:r>
              <a:rPr sz="1400" b="1">
                <a:solidFill>
                  <a:srgbClr val="002060"/>
                </a:solidFill>
                <a:latin typeface="맑은 고딕"/>
              </a:rPr>
              <a:t>01.  AI 시대, 개발 방식은 이미 변하고 있다</a:t>
            </a:r>
          </a:p>
          <a:p>
            <a:r>
              <a:rPr sz="1400" b="1">
                <a:solidFill>
                  <a:srgbClr val="002060"/>
                </a:solidFill>
                <a:latin typeface="맑은 고딕"/>
              </a:rPr>
              <a:t>02.  같은 AI, 다른 생산성 — 무엇을 다르게 하는가</a:t>
            </a:r>
          </a:p>
          <a:p>
            <a:r>
              <a:rPr sz="1400" b="1">
                <a:solidFill>
                  <a:srgbClr val="002060"/>
                </a:solidFill>
                <a:latin typeface="맑은 고딕"/>
              </a:rPr>
              <a:t>03.  방법 1. 질문하지 말고 업무를 맡겨라</a:t>
            </a:r>
          </a:p>
          <a:p>
            <a:r>
              <a:rPr sz="1400" b="1">
                <a:solidFill>
                  <a:srgbClr val="002060"/>
                </a:solidFill>
                <a:latin typeface="맑은 고딕"/>
              </a:rPr>
              <a:t>04.  방법 2. Prompt보다 Context가 중요하다</a:t>
            </a:r>
          </a:p>
          <a:p>
            <a:r>
              <a:rPr sz="1400" b="1">
                <a:solidFill>
                  <a:srgbClr val="002060"/>
                </a:solidFill>
                <a:latin typeface="맑은 고딕"/>
              </a:rPr>
              <a:t>05.  방법 3. AI를 개발 Workflow로 만들어라</a:t>
            </a:r>
          </a:p>
        </p:txBody>
      </p:sp>
      <p:sp>
        <p:nvSpPr>
          <p:cNvPr id="11" name="직사각형 10"/>
          <p:cNvSpPr/>
          <p:nvPr/>
        </p:nvSpPr>
        <p:spPr>
          <a:xfrm rot="5400000" flipH="1">
            <a:off x="5703566" y="369565"/>
            <a:ext cx="784860" cy="121920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-990615" y="69574"/>
            <a:ext cx="646331" cy="391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직사각형 22"/>
          <p:cNvSpPr/>
          <p:nvPr/>
        </p:nvSpPr>
        <p:spPr>
          <a:xfrm>
            <a:off x="-990615" y="69574"/>
            <a:ext cx="646331" cy="391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 flipH="1">
            <a:off x="2649538" y="220766"/>
            <a:ext cx="637707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9004" y="3806692"/>
            <a:ext cx="3301456" cy="146140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PART 1</a:t>
            </a:r>
          </a:p>
          <a:p>
            <a:r>
              <a:rPr sz="2800" b="1">
                <a:solidFill>
                  <a:srgbClr val="FFFFFF"/>
                </a:solidFill>
                <a:latin typeface="맑은 고딕"/>
              </a:rPr>
              <a:t>AI 시대,</a:t>
            </a:r>
          </a:p>
          <a:p>
            <a:r>
              <a:rPr sz="2800" b="1">
                <a:solidFill>
                  <a:srgbClr val="FFFFFF"/>
                </a:solidFill>
                <a:latin typeface="맑은 고딕"/>
              </a:rPr>
              <a:t>개발자는 사라질까?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74732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AI가 개발자를 대체한다는 이야기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776"/>
                </a:solidFill>
                <a:latin typeface="맑은 고딕"/>
              </a:rPr>
              <a:t>최근 시장에서 반복되는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맑은 고딕"/>
              </a:rPr>
              <a:t>“AI가 개발자를 대체할 것이다”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맑은 고딕"/>
              </a:rPr>
              <a:t>산업·미디어에서 반복되는 대체 담론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맑은 고딕"/>
              </a:rPr>
              <a:t>“주니어 개발자의 역할이 줄어든다”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맑은 고딕"/>
              </a:rPr>
              <a:t>초급 코딩·반복 업무의 자동화 가속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2060"/>
                </a:solidFill>
                <a:latin typeface="맑은 고딕"/>
              </a:rPr>
              <a:t>“개발자의 업무 방식이 바뀐다”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7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맑은 고딕"/>
              </a:rPr>
              <a:t>도구·프로세스·협업 구조의 재정의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2776"/>
                </a:solidFill>
                <a:latin typeface="맑은 고딕"/>
              </a:rPr>
              <a:t>완전 대체 여부는 논쟁의 영역이다.  다만 한 가지는 확실하다 —  개발 방식 자체는 이미 변하고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74732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02. AI는 선택이 아니라 산업 변화가 되었다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맑은 고딕"/>
              </a:rPr>
              <a:t>기업들이 업무 프로세스에 AI를 포함시키고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맑은 고딕"/>
              </a:rPr>
              <a:t>$2.59T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2026년 전 세계 AI 지출
(Gartner, +47% YoY)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맑은 고딕"/>
              </a:rPr>
              <a:t>$37B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2025년 기업 GenAI 지출
(Menlo, 전년 대비 3.2배)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맑은 고딕"/>
              </a:rPr>
              <a:t>72%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생성형 AI 사용 조직
(McKinsey, ’24 33%→’25 72%)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맑은 고딕"/>
              </a:rPr>
              <a:t>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업무 기능에서 AI 상시 사용
(McKinsey State of 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776"/>
                </a:solidFill>
                <a:latin typeface="맑은 고딕"/>
              </a:rPr>
              <a:t>개발자가 마주하는 AI 도구 지형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맑은 고딕"/>
              </a:rPr>
              <a:t>GitHub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코딩 보조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794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맑은 고딕"/>
              </a:rPr>
              <a:t>Cursor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14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AI 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94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맑은 고딕"/>
              </a:rPr>
              <a:t>Claude / ChatGPT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114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분석·설계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794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맑은 고딕"/>
              </a:rPr>
              <a:t>SAP Joule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114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SAP 업무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794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맑은 고딕"/>
              </a:rPr>
              <a:t>MS Copilot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114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업무 전반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2060"/>
                </a:solidFill>
                <a:latin typeface="맑은 고딕"/>
              </a:rPr>
              <a:t>AI를 사용할 것인가 말 것인가는 선택의 문제가 아니다.
이미 많은 기업이 AI를 업무 프로세스에 포함시키고 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맑은 고딕"/>
              </a:rPr>
              <a:t>※ 수치는 공개 리포트 기준 인용 (Gartner / Menlo Ventures / McKinsey)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74732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03. 중요한 질문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666666"/>
                </a:solidFill>
                <a:latin typeface="맑은 고딕"/>
              </a:rPr>
              <a:t>AI가 개발자를 대체할까?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맑은 고딕"/>
              </a:rPr>
              <a:t>보다 중요한 질문은 이것이다.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2060"/>
                </a:solidFill>
                <a:latin typeface="맑은 고딕"/>
              </a:rPr>
              <a:t>AI를 활용하는 개발자가
그렇지 않은 개발자를 대체하지 않을까?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2776"/>
                </a:solidFill>
                <a:latin typeface="맑은 고딕"/>
              </a:rPr>
              <a:t>같은 AI 도구를 쓰는데도,
왜 어떤 개발자는 생산성이 크게 늘고, 어떤 개발자는 그대로일까?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직사각형 22"/>
          <p:cNvSpPr/>
          <p:nvPr/>
        </p:nvSpPr>
        <p:spPr>
          <a:xfrm>
            <a:off x="-990615" y="69574"/>
            <a:ext cx="646331" cy="391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 flipH="1">
            <a:off x="2649538" y="220766"/>
            <a:ext cx="637707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9004" y="3806692"/>
            <a:ext cx="3301456" cy="146140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PART 2</a:t>
            </a:r>
          </a:p>
          <a:p>
            <a:r>
              <a:rPr sz="2600" b="1">
                <a:solidFill>
                  <a:srgbClr val="FFFFFF"/>
                </a:solidFill>
                <a:latin typeface="맑은 고딕"/>
              </a:rPr>
              <a:t>AI 생산성을</a:t>
            </a:r>
          </a:p>
          <a:p>
            <a:r>
              <a:rPr sz="2600" b="1">
                <a:solidFill>
                  <a:srgbClr val="FFFFFF"/>
                </a:solidFill>
                <a:latin typeface="맑은 고딕"/>
              </a:rPr>
              <a:t>극대화하는 방법 3가지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METHOD 01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en-US" altLang="ko-KR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질문하지 말고, 업무를 맡겨라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706476" y="2051897"/>
            <a:ext cx="4886248" cy="4083664"/>
            <a:chOff x="496127" y="2051897"/>
            <a:chExt cx="5135495" cy="4083664"/>
          </a:xfrm>
        </p:grpSpPr>
        <p:grpSp>
          <p:nvGrpSpPr>
            <p:cNvPr id="20" name="그룹 19"/>
            <p:cNvGrpSpPr/>
            <p:nvPr/>
          </p:nvGrpSpPr>
          <p:grpSpPr>
            <a:xfrm>
              <a:off x="496127" y="4469029"/>
              <a:ext cx="5135495" cy="1666532"/>
              <a:chOff x="496127" y="4469029"/>
              <a:chExt cx="5135495" cy="1666532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497310" y="5082965"/>
                <a:ext cx="5071639" cy="10525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sz="1300" b="1">
                    <a:solidFill>
                      <a:srgbClr val="002060"/>
                    </a:solidFill>
                    <a:latin typeface="맑은 고딕"/>
                  </a:rPr>
                  <a:t>“SELECT 성능 개선해줘”</a:t>
                </a:r>
              </a:p>
              <a:p>
                <a:r>
                  <a:rPr sz="800" b="0">
                    <a:solidFill>
                      <a:srgbClr val="666666"/>
                    </a:solidFill>
                    <a:latin typeface="맑은 고딕"/>
                  </a:rPr>
                  <a:t/>
                </a:r>
              </a:p>
              <a:p>
                <a:r>
                  <a:rPr sz="1200" b="0">
                    <a:solidFill>
                      <a:srgbClr val="666666"/>
                    </a:solidFill>
                    <a:latin typeface="맑은 고딕"/>
                  </a:rPr>
                  <a:t>→ 일반론적 조언</a:t>
                </a:r>
              </a:p>
              <a:p>
                <a:r>
                  <a:rPr sz="1200" b="0">
                    <a:solidFill>
                      <a:srgbClr val="666666"/>
                    </a:solidFill>
                    <a:latin typeface="맑은 고딕"/>
                  </a:rPr>
                  <a:t>→ 제한적인 코드 제안</a:t>
                </a:r>
              </a:p>
              <a:p>
                <a:r>
                  <a:rPr sz="1200" b="0">
                    <a:solidFill>
                      <a:srgbClr val="666666"/>
                    </a:solidFill>
                    <a:latin typeface="맑은 고딕"/>
                  </a:rPr>
                  <a:t>→ 맥락 없는 답변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402861" y="4469029"/>
                <a:ext cx="3322028" cy="38009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defPPr>
                  <a:defRPr lang="ko-KR"/>
                </a:defPPr>
                <a:lvl1pPr indent="0" eaLnBrk="0" hangingPunct="0">
                  <a:lnSpc>
                    <a:spcPct val="90000"/>
                  </a:lnSpc>
                  <a:spcBef>
                    <a:spcPts val="1000"/>
                  </a:spcBef>
                  <a:buFont typeface="Arial" pitchFamily="34" charset="0"/>
                  <a:buNone/>
                  <a:defRPr sz="3600" b="0" kern="1000" spc="-70" baseline="0">
                    <a:solidFill>
                      <a:srgbClr val="23693A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defRPr>
                </a:lvl1pPr>
                <a:lvl2pPr marL="6858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400"/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000"/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ko-KR" altLang="en-US" sz="1800" b="1" spc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일반적인 AI 활용</a:t>
                </a:r>
                <a:r>
                  <a:rPr lang="en-US" altLang="ko-KR" sz="1800" b="1" spc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/>
                </a:r>
                <a:endParaRPr lang="en-US" altLang="ko-KR" sz="1800" b="1" i="1" spc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496127" y="4966044"/>
                <a:ext cx="5135495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그룹 20"/>
            <p:cNvGrpSpPr/>
            <p:nvPr/>
          </p:nvGrpSpPr>
          <p:grpSpPr>
            <a:xfrm>
              <a:off x="524702" y="2051897"/>
              <a:ext cx="5044247" cy="2220246"/>
              <a:chOff x="524702" y="2051897"/>
              <a:chExt cx="5044247" cy="2220246"/>
            </a:xfrm>
          </p:grpSpPr>
          <p:sp>
            <p:nvSpPr>
              <p:cNvPr id="24" name="모서리가 둥근 직사각형 23"/>
              <p:cNvSpPr/>
              <p:nvPr/>
            </p:nvSpPr>
            <p:spPr>
              <a:xfrm>
                <a:off x="524702" y="2051897"/>
                <a:ext cx="2453447" cy="2220246"/>
              </a:xfrm>
              <a:prstGeom prst="roundRect">
                <a:avLst>
                  <a:gd name="adj" fmla="val 5112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  <a:ea typeface="+mj-ea"/>
                  </a:rPr>
                  <a:t/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모서리가 둥근 직사각형 39"/>
              <p:cNvSpPr/>
              <p:nvPr/>
            </p:nvSpPr>
            <p:spPr>
              <a:xfrm>
                <a:off x="3115502" y="2051897"/>
                <a:ext cx="2453447" cy="2220246"/>
              </a:xfrm>
              <a:prstGeom prst="roundRect">
                <a:avLst>
                  <a:gd name="adj" fmla="val 5112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  <a:ea typeface="+mj-ea"/>
                  </a:rPr>
                  <a:t/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15" name="그룹 14"/>
          <p:cNvGrpSpPr/>
          <p:nvPr/>
        </p:nvGrpSpPr>
        <p:grpSpPr>
          <a:xfrm>
            <a:off x="6599276" y="2051897"/>
            <a:ext cx="4886248" cy="4083664"/>
            <a:chOff x="6513520" y="2051897"/>
            <a:chExt cx="5135495" cy="4083664"/>
          </a:xfrm>
        </p:grpSpPr>
        <p:sp>
          <p:nvSpPr>
            <p:cNvPr id="32" name="모서리가 둥근 직사각형 31"/>
            <p:cNvSpPr/>
            <p:nvPr/>
          </p:nvSpPr>
          <p:spPr>
            <a:xfrm>
              <a:off x="6513520" y="2051897"/>
              <a:ext cx="5135495" cy="2220246"/>
            </a:xfrm>
            <a:prstGeom prst="roundRect">
              <a:avLst>
                <a:gd name="adj" fmla="val 5112"/>
              </a:avLst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/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grpSp>
          <p:nvGrpSpPr>
            <p:cNvPr id="34" name="그룹 33"/>
            <p:cNvGrpSpPr/>
            <p:nvPr/>
          </p:nvGrpSpPr>
          <p:grpSpPr>
            <a:xfrm>
              <a:off x="6513520" y="4469029"/>
              <a:ext cx="5135495" cy="1666532"/>
              <a:chOff x="5400798" y="2468871"/>
              <a:chExt cx="5268966" cy="1666532"/>
            </a:xfrm>
          </p:grpSpPr>
          <p:sp>
            <p:nvSpPr>
              <p:cNvPr id="35" name="직사각형 34"/>
              <p:cNvSpPr/>
              <p:nvPr/>
            </p:nvSpPr>
            <p:spPr>
              <a:xfrm>
                <a:off x="5402012" y="3082807"/>
                <a:ext cx="5267752" cy="10525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sz="1200" b="1">
                    <a:solidFill>
                      <a:srgbClr val="002060"/>
                    </a:solidFill>
                    <a:latin typeface="맑은 고딕"/>
                  </a:rPr>
                  <a:t>환경·모듈·테이블·DB·목표를 정의하고</a:t>
                </a:r>
              </a:p>
              <a:p>
                <a:r>
                  <a:rPr sz="1200" b="1">
                    <a:solidFill>
                      <a:srgbClr val="002060"/>
                    </a:solidFill>
                    <a:latin typeface="맑은 고딕"/>
                  </a:rPr>
                  <a:t>영향도 / 개선방향 / 코드 / 테스트까지 요청</a:t>
                </a:r>
              </a:p>
              <a:p>
                <a:r>
                  <a:rPr sz="800" b="0">
                    <a:solidFill>
                      <a:srgbClr val="666666"/>
                    </a:solidFill>
                    <a:latin typeface="맑은 고딕"/>
                  </a:rPr>
                  <a:t/>
                </a:r>
              </a:p>
              <a:p>
                <a:r>
                  <a:rPr sz="1200" b="0">
                    <a:solidFill>
                      <a:srgbClr val="666666"/>
                    </a:solidFill>
                    <a:latin typeface="맑은 고딕"/>
                  </a:rPr>
                  <a:t>→ 영향도 분석 + 개선안</a:t>
                </a:r>
              </a:p>
              <a:p>
                <a:r>
                  <a:rPr sz="1200" b="0">
                    <a:solidFill>
                      <a:srgbClr val="666666"/>
                    </a:solidFill>
                    <a:latin typeface="맑은 고딕"/>
                  </a:rPr>
                  <a:t>→ 수정 코드 + 검증 방법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6331097" y="2468871"/>
                <a:ext cx="3408367" cy="38009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defPPr>
                  <a:defRPr lang="ko-KR"/>
                </a:defPPr>
                <a:lvl1pPr indent="0" eaLnBrk="0" hangingPunct="0">
                  <a:lnSpc>
                    <a:spcPct val="90000"/>
                  </a:lnSpc>
                  <a:spcBef>
                    <a:spcPts val="1000"/>
                  </a:spcBef>
                  <a:buFont typeface="Arial" pitchFamily="34" charset="0"/>
                  <a:buNone/>
                  <a:defRPr sz="3600" b="0" kern="1000" spc="-70" baseline="0">
                    <a:solidFill>
                      <a:srgbClr val="23693A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defRPr>
                </a:lvl1pPr>
                <a:lvl2pPr marL="6858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400"/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000"/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ko-KR" altLang="en-US" sz="1800" b="1" spc="0" dirty="0">
                    <a:solidFill>
                      <a:srgbClr val="002776"/>
                    </a:solidFill>
                    <a:latin typeface="+mj-ea"/>
                    <a:ea typeface="+mj-ea"/>
                  </a:rPr>
                  <a:t>생산성이 높은 AI 활용</a:t>
                </a:r>
                <a:r>
                  <a:rPr lang="en-US" altLang="ko-KR" sz="1800" b="1" spc="0" dirty="0">
                    <a:solidFill>
                      <a:srgbClr val="002776"/>
                    </a:solidFill>
                    <a:latin typeface="+mj-ea"/>
                    <a:ea typeface="+mj-ea"/>
                  </a:rPr>
                  <a:t/>
                </a:r>
              </a:p>
            </p:txBody>
          </p:sp>
          <p:cxnSp>
            <p:nvCxnSpPr>
              <p:cNvPr id="37" name="직선 연결선 36"/>
              <p:cNvCxnSpPr/>
              <p:nvPr/>
            </p:nvCxnSpPr>
            <p:spPr>
              <a:xfrm>
                <a:off x="5400798" y="2965886"/>
                <a:ext cx="5268966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오른쪽 화살표 43"/>
          <p:cNvSpPr/>
          <p:nvPr/>
        </p:nvSpPr>
        <p:spPr>
          <a:xfrm>
            <a:off x="5937250" y="4517908"/>
            <a:ext cx="317500" cy="331214"/>
          </a:xfrm>
          <a:prstGeom prst="rightArrow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74732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METHOD 01  ·  핵심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  <a:latin typeface="맑은 고딕"/>
              </a:rPr>
              <a:t>AI 활용의 차이는 ‘질문의 수준’이 아니다.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060"/>
                </a:solidFill>
                <a:latin typeface="맑은 고딕"/>
              </a:rPr>
              <a:t>업무를 얼마나 잘 정의해서
맡기는가의 차이다.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2776"/>
                </a:solidFill>
                <a:latin typeface="맑은 고딕"/>
              </a:rPr>
              <a:t>검색하듯 묻지 말고, 한 건의 업무(Task)를 통째로 위임하라.
SAP 예: 환경 · 모듈 · 테이블 · DB · 영향도 · 코드 · 테스트까지 한 번에.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직사각형 56"/>
          <p:cNvSpPr/>
          <p:nvPr/>
        </p:nvSpPr>
        <p:spPr>
          <a:xfrm>
            <a:off x="0" y="3429000"/>
            <a:ext cx="12192000" cy="1053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METHOD 02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Prompt보다 Context가 중요하다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189520" y="2196465"/>
            <a:ext cx="2878759" cy="3864122"/>
            <a:chOff x="1096351" y="2225040"/>
            <a:chExt cx="2878759" cy="3864122"/>
          </a:xfrm>
        </p:grpSpPr>
        <p:sp>
          <p:nvSpPr>
            <p:cNvPr id="37" name="양쪽 모서리가 둥근 사각형 36"/>
            <p:cNvSpPr/>
            <p:nvPr/>
          </p:nvSpPr>
          <p:spPr>
            <a:xfrm>
              <a:off x="1106980" y="2225040"/>
              <a:ext cx="2857500" cy="2286000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/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255352" y="4652440"/>
              <a:ext cx="256075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18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모델보다 맥락</a:t>
              </a:r>
              <a:r>
                <a:rPr lang="en-US" altLang="ko-KR" sz="18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/>
              </a:r>
              <a:r>
                <a:rPr lang="ko-KR" altLang="en-US" sz="18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/>
              </a:r>
              <a:endParaRPr lang="en-US" altLang="ko-KR" sz="1800" b="1" i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096351" y="5110433"/>
              <a:ext cx="2878759" cy="9787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sz="1300" b="1">
                  <a:solidFill>
                    <a:srgbClr val="002060"/>
                  </a:solidFill>
                  <a:latin typeface="맑은 고딕"/>
                </a:rPr>
                <a:t>AI 성능은 모델보다</a:t>
              </a:r>
            </a:p>
            <a:p>
              <a:r>
                <a:rPr sz="1300" b="1">
                  <a:solidFill>
                    <a:srgbClr val="002060"/>
                  </a:solidFill>
                  <a:latin typeface="맑은 고딕"/>
                </a:rPr>
                <a:t>Context에 의해 결정된다.</a:t>
              </a:r>
            </a:p>
            <a:p>
              <a:r>
                <a:rPr sz="800" b="0">
                  <a:solidFill>
                    <a:srgbClr val="666666"/>
                  </a:solidFill>
                  <a:latin typeface="맑은 고딕"/>
                </a:rPr>
                <a:t/>
              </a:r>
            </a:p>
            <a:p>
              <a:r>
                <a:rPr sz="1200" b="0">
                  <a:solidFill>
                    <a:srgbClr val="666666"/>
                  </a:solidFill>
                  <a:latin typeface="맑은 고딕"/>
                </a:rPr>
                <a:t>질문을 잘하는 사람이 아니라</a:t>
              </a:r>
            </a:p>
            <a:p>
              <a:r>
                <a:rPr sz="1200" b="0">
                  <a:solidFill>
                    <a:srgbClr val="666666"/>
                  </a:solidFill>
                  <a:latin typeface="맑은 고딕"/>
                </a:rPr>
                <a:t>환경을 만드는 사람</a:t>
              </a: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4656620" y="2196465"/>
            <a:ext cx="2878759" cy="3864122"/>
            <a:chOff x="1096351" y="2225040"/>
            <a:chExt cx="2878759" cy="3864122"/>
          </a:xfrm>
        </p:grpSpPr>
        <p:sp>
          <p:nvSpPr>
            <p:cNvPr id="49" name="양쪽 모서리가 둥근 사각형 48"/>
            <p:cNvSpPr/>
            <p:nvPr/>
          </p:nvSpPr>
          <p:spPr>
            <a:xfrm>
              <a:off x="1106980" y="2225040"/>
              <a:ext cx="2857500" cy="2286000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/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55352" y="4652440"/>
              <a:ext cx="256075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>SAP Context 예시</a:t>
              </a:r>
              <a:r>
                <a:rPr lang="en-US" altLang="ko-KR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/>
              </a:r>
              <a:r>
                <a:rPr lang="ko-KR" altLang="en-US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/>
              </a:r>
              <a:endParaRPr lang="en-US" altLang="ko-KR" sz="1800" b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096351" y="5110433"/>
              <a:ext cx="2878759" cy="9787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sz="1200" b="0">
                  <a:solidFill>
                    <a:srgbClr val="222222"/>
                  </a:solidFill>
                  <a:latin typeface="맑은 고딕"/>
                </a:rPr>
                <a:t>ECC / S/4HANA</a:t>
              </a:r>
            </a:p>
            <a:p>
              <a:r>
                <a:rPr sz="1200" b="0">
                  <a:solidFill>
                    <a:srgbClr val="222222"/>
                  </a:solidFill>
                  <a:latin typeface="맑은 고딕"/>
                </a:rPr>
                <a:t>Naming · 개발표준</a:t>
              </a:r>
            </a:p>
            <a:p>
              <a:r>
                <a:rPr sz="1200" b="0">
                  <a:solidFill>
                    <a:srgbClr val="222222"/>
                  </a:solidFill>
                  <a:latin typeface="맑은 고딕"/>
                </a:rPr>
                <a:t>테이블 관계 · FM/Class</a:t>
              </a:r>
            </a:p>
            <a:p>
              <a:r>
                <a:rPr sz="1200" b="0">
                  <a:solidFill>
                    <a:srgbClr val="222222"/>
                  </a:solidFill>
                  <a:latin typeface="맑은 고딕"/>
                </a:rPr>
                <a:t>Git · 설계문서</a:t>
              </a:r>
            </a:p>
            <a:p>
              <a:r>
                <a:rPr sz="1200" b="0">
                  <a:solidFill>
                    <a:srgbClr val="222222"/>
                  </a:solidFill>
                  <a:latin typeface="맑은 고딕"/>
                </a:rPr>
                <a:t>업무 프로세스</a:t>
              </a: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8123720" y="2196465"/>
            <a:ext cx="2878759" cy="3864122"/>
            <a:chOff x="1096351" y="2225040"/>
            <a:chExt cx="2878759" cy="3864122"/>
          </a:xfrm>
        </p:grpSpPr>
        <p:sp>
          <p:nvSpPr>
            <p:cNvPr id="53" name="양쪽 모서리가 둥근 사각형 52"/>
            <p:cNvSpPr/>
            <p:nvPr/>
          </p:nvSpPr>
          <p:spPr>
            <a:xfrm>
              <a:off x="1106980" y="2225040"/>
              <a:ext cx="2857500" cy="2286000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/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255352" y="4652440"/>
              <a:ext cx="256075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>만드는 기술</a:t>
              </a:r>
              <a:r>
                <a:rPr lang="en-US" altLang="ko-KR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/>
              </a:r>
              <a:r>
                <a:rPr lang="ko-KR" altLang="en-US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/>
              </a:r>
              <a:endParaRPr lang="en-US" altLang="ko-KR" sz="1800" b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096351" y="5110433"/>
              <a:ext cx="2878759" cy="9787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sz="1200" b="1">
                  <a:solidFill>
                    <a:srgbClr val="002060"/>
                  </a:solidFill>
                  <a:latin typeface="맑은 고딕"/>
                </a:rPr>
                <a:t>Cursor Rules</a:t>
              </a:r>
            </a:p>
            <a:p>
              <a:r>
                <a:rPr sz="1200" b="1">
                  <a:solidFill>
                    <a:srgbClr val="002060"/>
                  </a:solidFill>
                  <a:latin typeface="맑은 고딕"/>
                </a:rPr>
                <a:t>Project Context</a:t>
              </a:r>
            </a:p>
            <a:p>
              <a:r>
                <a:rPr sz="1200" b="1">
                  <a:solidFill>
                    <a:srgbClr val="002060"/>
                  </a:solidFill>
                  <a:latin typeface="맑은 고딕"/>
                </a:rPr>
                <a:t>MCP</a:t>
              </a:r>
            </a:p>
            <a:p>
              <a:r>
                <a:rPr sz="1200" b="1">
                  <a:solidFill>
                    <a:srgbClr val="002060"/>
                  </a:solidFill>
                  <a:latin typeface="맑은 고딕"/>
                </a:rPr>
                <a:t>AI Memory</a:t>
              </a:r>
            </a:p>
            <a:p>
              <a:r>
                <a:rPr sz="1200" b="1">
                  <a:solidFill>
                    <a:srgbClr val="002060"/>
                  </a:solidFill>
                  <a:latin typeface="맑은 고딕"/>
                </a:rPr>
                <a:t>저장소 표준(.md)</a:t>
              </a: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74732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METHOD 02  ·  핵심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2060"/>
                </a:solidFill>
                <a:latin typeface="맑은 고딕"/>
              </a:rPr>
              <a:t>AI에게 정답을 요구하기 전에,
AI가 문제를 이해할 수 있는
환경을 만들어야 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2776"/>
                </a:solidFill>
                <a:latin typeface="맑은 고딕"/>
              </a:rPr>
              <a:t>Context Engineering &gt; Prompt Engineering
Rules / 프로젝트 맥락 / MCP / 문서를 먼저 고정하면, 같은 모델도 결과가 달라진다.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METHOD 03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AI를 도구가 아닌 개발 Workflow로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41932" y="2616199"/>
            <a:ext cx="1110813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900308" y="2037635"/>
            <a:ext cx="987283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en-US" altLang="ko-KR" sz="1600" b="1" spc="0" dirty="0" smtClean="0">
                <a:solidFill>
                  <a:srgbClr val="002776"/>
                </a:solidFill>
                <a:latin typeface="+mj-ea"/>
                <a:ea typeface="+mj-ea"/>
              </a:rPr>
              <a:t>STEP 1</a:t>
            </a:r>
            <a:endParaRPr lang="en-US" altLang="ko-KR" sz="1600" b="1" i="1" spc="0" dirty="0">
              <a:solidFill>
                <a:srgbClr val="002776"/>
              </a:solidFill>
              <a:latin typeface="+mj-ea"/>
              <a:ea typeface="+mj-ea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2310228" y="2532478"/>
            <a:ext cx="167443" cy="167443"/>
          </a:xfrm>
          <a:prstGeom prst="ellipse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113572" y="3112536"/>
            <a:ext cx="256075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200" b="1" spc="0" dirty="0" smtClean="0">
                <a:solidFill>
                  <a:srgbClr val="002776"/>
                </a:solidFill>
                <a:latin typeface="+mj-ea"/>
                <a:ea typeface="+mj-ea"/>
              </a:rPr>
              <a:t>분석 · 설계</a:t>
            </a:r>
            <a:r>
              <a:rPr lang="en-US" altLang="ko-KR" sz="2200" b="1" spc="0" dirty="0" smtClean="0">
                <a:solidFill>
                  <a:srgbClr val="002776"/>
                </a:solidFill>
                <a:latin typeface="+mj-ea"/>
                <a:ea typeface="+mj-ea"/>
              </a:rPr>
              <a:t/>
            </a:r>
            <a:endParaRPr lang="en-US" altLang="ko-KR" sz="2200" b="1" i="1" spc="0" dirty="0">
              <a:solidFill>
                <a:srgbClr val="002776"/>
              </a:solidFill>
              <a:latin typeface="+mj-ea"/>
              <a:ea typeface="+mj-ea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760432" y="4409400"/>
            <a:ext cx="3267036" cy="1481704"/>
          </a:xfrm>
          <a:prstGeom prst="roundRect">
            <a:avLst>
              <a:gd name="adj" fmla="val 5112"/>
            </a:avLst>
          </a:prstGeom>
          <a:solidFill>
            <a:schemeClr val="bg1">
              <a:lumMod val="95000"/>
            </a:schemeClr>
          </a:solidFill>
          <a:ln>
            <a:noFill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002060"/>
                </a:solidFill>
                <a:latin typeface="맑은 고딕"/>
              </a:rPr>
              <a:t>한 번 묻고 끝내지 말고</a:t>
            </a:r>
          </a:p>
          <a:p>
            <a:r>
              <a:rPr sz="1200" b="0">
                <a:solidFill>
                  <a:srgbClr val="666666"/>
                </a:solidFill>
                <a:latin typeface="맑은 고딕"/>
              </a:rPr>
              <a:t>분석 단계부터 AI를 연결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4693" y="3548465"/>
            <a:ext cx="3098515" cy="713700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맑은 고딕"/>
              </a:rPr>
              <a:t>요구사항 → 영향도 분석</a:t>
            </a:r>
          </a:p>
          <a:p>
            <a:r>
              <a:rPr sz="1200" b="0">
                <a:solidFill>
                  <a:srgbClr val="222222"/>
                </a:solidFill>
                <a:latin typeface="맑은 고딕"/>
              </a:rPr>
              <a:t>관련 프로그램/테이블 탐색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02358" y="2037635"/>
            <a:ext cx="987283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en-US" altLang="ko-KR" sz="1600" b="1" spc="0" dirty="0" smtClean="0">
                <a:solidFill>
                  <a:srgbClr val="002776"/>
                </a:solidFill>
                <a:latin typeface="+mj-ea"/>
                <a:ea typeface="+mj-ea"/>
              </a:rPr>
              <a:t>STEP 2</a:t>
            </a:r>
            <a:endParaRPr lang="en-US" altLang="ko-KR" sz="1600" b="1" i="1" spc="0" dirty="0">
              <a:solidFill>
                <a:srgbClr val="002776"/>
              </a:solidFill>
              <a:latin typeface="+mj-ea"/>
              <a:ea typeface="+mj-ea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6012278" y="2532478"/>
            <a:ext cx="167443" cy="167443"/>
          </a:xfrm>
          <a:prstGeom prst="ellipse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4815622" y="3112536"/>
            <a:ext cx="256075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200" b="1" spc="0" dirty="0">
                <a:solidFill>
                  <a:srgbClr val="002776"/>
                </a:solidFill>
                <a:latin typeface="+mj-ea"/>
                <a:ea typeface="+mj-ea"/>
              </a:rPr>
              <a:t>구현 · 리뷰</a:t>
            </a:r>
            <a:r>
              <a:rPr lang="en-US" altLang="ko-KR" sz="2200" b="1" spc="0" dirty="0">
                <a:solidFill>
                  <a:srgbClr val="002776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80" name="모서리가 둥근 직사각형 79"/>
          <p:cNvSpPr/>
          <p:nvPr/>
        </p:nvSpPr>
        <p:spPr>
          <a:xfrm>
            <a:off x="4462482" y="4409400"/>
            <a:ext cx="3267036" cy="1481704"/>
          </a:xfrm>
          <a:prstGeom prst="roundRect">
            <a:avLst>
              <a:gd name="adj" fmla="val 5112"/>
            </a:avLst>
          </a:prstGeom>
          <a:solidFill>
            <a:schemeClr val="bg1">
              <a:lumMod val="95000"/>
            </a:schemeClr>
          </a:solidFill>
          <a:ln>
            <a:noFill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002060"/>
                </a:solidFill>
                <a:latin typeface="맑은 고딕"/>
              </a:rPr>
              <a:t>생성과 리뷰를</a:t>
            </a:r>
          </a:p>
          <a:p>
            <a:r>
              <a:rPr sz="1200" b="0">
                <a:solidFill>
                  <a:srgbClr val="666666"/>
                </a:solidFill>
                <a:latin typeface="맑은 고딕"/>
              </a:rPr>
              <a:t>같은 루프로 반복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46743" y="3548465"/>
            <a:ext cx="3098515" cy="713700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맑은 고딕"/>
              </a:rPr>
              <a:t>코드 작성</a:t>
            </a:r>
          </a:p>
          <a:p>
            <a:r>
              <a:rPr sz="1200" b="0">
                <a:solidFill>
                  <a:srgbClr val="222222"/>
                </a:solidFill>
                <a:latin typeface="맑은 고딕"/>
              </a:rPr>
              <a:t>AI Code Review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04408" y="2037635"/>
            <a:ext cx="987283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en-US" altLang="ko-KR" sz="1600" b="1" spc="0" dirty="0" smtClean="0">
                <a:solidFill>
                  <a:srgbClr val="002776"/>
                </a:solidFill>
                <a:latin typeface="+mj-ea"/>
                <a:ea typeface="+mj-ea"/>
              </a:rPr>
              <a:t>STEP 3</a:t>
            </a:r>
            <a:endParaRPr lang="en-US" altLang="ko-KR" sz="1600" b="1" i="1" spc="0" dirty="0">
              <a:solidFill>
                <a:srgbClr val="002776"/>
              </a:solidFill>
              <a:latin typeface="+mj-ea"/>
              <a:ea typeface="+mj-ea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9714328" y="2532478"/>
            <a:ext cx="167443" cy="167443"/>
          </a:xfrm>
          <a:prstGeom prst="ellipse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8517672" y="3112536"/>
            <a:ext cx="256075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200" b="1" spc="0" dirty="0">
                <a:solidFill>
                  <a:srgbClr val="002776"/>
                </a:solidFill>
                <a:latin typeface="+mj-ea"/>
                <a:ea typeface="+mj-ea"/>
              </a:rPr>
              <a:t>검증 · 문서</a:t>
            </a:r>
            <a:r>
              <a:rPr lang="en-US" altLang="ko-KR" sz="2200" b="1" spc="0" dirty="0">
                <a:solidFill>
                  <a:srgbClr val="002776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88" name="모서리가 둥근 직사각형 87"/>
          <p:cNvSpPr/>
          <p:nvPr/>
        </p:nvSpPr>
        <p:spPr>
          <a:xfrm>
            <a:off x="8164532" y="4409400"/>
            <a:ext cx="3267036" cy="1481704"/>
          </a:xfrm>
          <a:prstGeom prst="roundRect">
            <a:avLst>
              <a:gd name="adj" fmla="val 5112"/>
            </a:avLst>
          </a:prstGeom>
          <a:solidFill>
            <a:schemeClr val="bg1">
              <a:lumMod val="95000"/>
            </a:schemeClr>
          </a:solidFill>
          <a:ln>
            <a:noFill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002060"/>
                </a:solidFill>
                <a:latin typeface="맑은 고딕"/>
              </a:rPr>
              <a:t>테스트·문서까지</a:t>
            </a:r>
          </a:p>
          <a:p>
            <a:r>
              <a:rPr sz="1200" b="0">
                <a:solidFill>
                  <a:srgbClr val="666666"/>
                </a:solidFill>
                <a:latin typeface="맑은 고딕"/>
              </a:rPr>
              <a:t>워크플로의 일부로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48793" y="3548465"/>
            <a:ext cx="3098515" cy="713700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맑은 고딕"/>
              </a:rPr>
              <a:t>Test Case 생성</a:t>
            </a:r>
          </a:p>
          <a:p>
            <a:r>
              <a:rPr sz="1200" b="0">
                <a:solidFill>
                  <a:srgbClr val="222222"/>
                </a:solidFill>
                <a:latin typeface="맑은 고딕"/>
              </a:rPr>
              <a:t>변경문서 · 배포 체크리스트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74732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METHOD 03  ·  역할의 변화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맑은 고딕"/>
              </a:rPr>
              <a:t>기존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666666"/>
                </a:solidFill>
                <a:latin typeface="맑은 고딕"/>
              </a:rPr>
              <a:t>개발자가
모든 작업을 직접 수행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776"/>
                </a:solidFill>
                <a:latin typeface="맑은 고딕"/>
              </a:rPr>
              <a:t>변화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맑은 고딕"/>
              </a:rPr>
              <a:t>개발자
방향 설정 · 검증 · 의사결정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2776"/>
                </a:solidFill>
                <a:latin typeface="맑은 고딕"/>
              </a:rPr>
              <a:t>AI
반복 작업 · 초안 · 탐색 수행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2060"/>
                </a:solidFill>
                <a:latin typeface="맑은 고딕"/>
              </a:rPr>
              <a:t>한 번 사용하는 도구가 아니라, 업무 프로세스 자체에 AI를 연결할 때
생산성 격차가 벌어진다.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74732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/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/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CLOSING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666666"/>
                </a:solidFill>
                <a:latin typeface="맑은 고딕"/>
              </a:rPr>
              <a:t>AI 시대 개발자의 경쟁력은
코드를 얼마나 빨리 작성하는지가 아니다.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2060"/>
                </a:solidFill>
                <a:latin typeface="맑은 고딕"/>
              </a:rPr>
              <a:t>AI가 얼마나 잘 일하도록
환경을 만들 수 있는지가 경쟁력이다.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2776"/>
                </a:solidFill>
                <a:latin typeface="맑은 고딕"/>
              </a:rPr>
              <a:t>AI를 사용하는 개발자가 아니라,
AI와 함께 일하는 개발자가 되어야 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맑은 고딕"/>
              </a:rPr>
              <a:t>한 문장: AI는 개발자를 대체하는 기술이 아니라, AI를 잘 활용하는 개발자가 그렇지 않은 개발자를 대체하게 만드는 기술이다.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직사각형 5"/>
          <p:cNvSpPr/>
          <p:nvPr/>
        </p:nvSpPr>
        <p:spPr>
          <a:xfrm>
            <a:off x="2165963" y="2103054"/>
            <a:ext cx="6735249" cy="758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000" b="1" dirty="0">
                <a:solidFill>
                  <a:schemeClr val="bg2">
                    <a:lumMod val="50000"/>
                  </a:schemeClr>
                </a:solidFill>
                <a:latin typeface="+mj-ea"/>
                <a:cs typeface="Malgun Gothic" charset="-127"/>
              </a:rPr>
              <a:t>Thank You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1320114"/>
            <a:ext cx="1844040" cy="2324100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5611" y="3290334"/>
            <a:ext cx="4745405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en-US" altLang="ko-KR" sz="12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12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60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60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6119814" y="3390561"/>
            <a:ext cx="607218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00785" y="3390561"/>
            <a:ext cx="88477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 rot="5400000" flipH="1">
            <a:off x="5703570" y="369565"/>
            <a:ext cx="784860" cy="121920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1514</TotalTime>
  <Words>1129</Words>
  <Application>Microsoft Office PowerPoint</Application>
  <PresentationFormat>와이드스크린</PresentationFormat>
  <Paragraphs>335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6" baseType="lpstr">
      <vt:lpstr>맑은 고딕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57</cp:revision>
  <cp:lastPrinted>2025-07-02T05:54:58Z</cp:lastPrinted>
  <dcterms:created xsi:type="dcterms:W3CDTF">2025-06-27T06:44:15Z</dcterms:created>
  <dcterms:modified xsi:type="dcterms:W3CDTF">2025-08-11T02:51:56Z</dcterms:modified>
</cp:coreProperties>
</file>