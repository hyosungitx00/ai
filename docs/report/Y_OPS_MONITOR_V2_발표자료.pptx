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【0:00–0:45】</a:t>
            </a:r>
          </a:p>
          <a:p>
            <a:r>
              <a:t>인사 후 한 문장으로 프레임을 고정합니다.</a:t>
            </a:r>
          </a:p>
          <a:p>
            <a:r>
              <a:t>“오늘은 프로그램 기능 설명이 아닙니다. AI를 어떻게 써야 일이 빨라지고 품질이 유지되는지, 그리고 우리가 어떤 방향으로 가야 하는지를 말씀드리겠습니다.”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【0:45–1:30】</a:t>
            </a:r>
          </a:p>
          <a:p>
            <a:r>
              <a:t>두 질문만 남기고 넘어갑니다. “기능 데모는 필요하시면 별도로 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【1:30–2:40】</a:t>
            </a:r>
          </a:p>
          <a:p>
            <a:r>
              <a:t>비판이 아니라 공통 함정입니다. “우리는 이 네 가지를 피하기 위해 규칙을 먼저 고정했습니다.”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【2:40–4:10】 핵심 슬라이드.</a:t>
            </a:r>
          </a:p>
          <a:p>
            <a:r>
              <a:t>“효율의 본질은 모델 성능이 아니라, 범위·표준·검증이 고정되어 있는 구조입니다.”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【4:10–5:30】</a:t>
            </a:r>
          </a:p>
          <a:p>
            <a:r>
              <a:t>프로그램 기능을 길게 설명하지 않습니다. “사례는 증거일 뿐, 메시지는 사용 구조입니다.”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【5:30–7:00】</a:t>
            </a:r>
          </a:p>
          <a:p>
            <a:r>
              <a:t>상무님께 가장 전달하고 싶은 슬라이드. “도구 도입만으로는 부족하고, 규칙 자산화가 필요합니다.”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【7:00–8:40】</a:t>
            </a:r>
          </a:p>
          <a:p>
            <a:r>
              <a:t>방향은 네 줄로만. “다음 과제는 기능이 아니라, 이 네 가지를 조직 습관으로 만드는 일입니다.”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【8:40–10:00】</a:t>
            </a:r>
          </a:p>
          <a:p>
            <a:r>
              <a:t>핵심 메시지 한 번 반복 후 Q&amp;A.</a:t>
            </a:r>
          </a:p>
          <a:p>
            <a:r>
              <a:t>예상 질문: 보안/데이터, 정량 수치, 적용 범위, 교육 방식.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A2E"/>
                </a:solidFill>
                <a:latin typeface="Malgun Gothic"/>
              </a:rPr>
              <a:t>INTERNAL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AI를 쓰는 것과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</a:rPr>
              <a:t>AI를 잘 쓰는 것은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8B95A5"/>
                </a:solidFill>
                <a:latin typeface="Malgun Gothic"/>
              </a:rPr>
              <a:t>개발 업무에서의 AI 활용 효율과, 조직이 가져가야 할 방향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5A6678"/>
                </a:solidFill>
                <a:latin typeface="Malgun Gothic"/>
              </a:rPr>
              <a:t>사례: SAP 통합 운영 모니터링 개발 (Cursor 적용)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21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88A2E"/>
                </a:solidFill>
                <a:latin typeface="Malgun Gothic"/>
              </a:rPr>
              <a:t>Audience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상무님 포함 동료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5943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88A2E"/>
                </a:solidFill>
                <a:latin typeface="Malgun Gothic"/>
              </a:rPr>
              <a:t>Duration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약 10분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943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88A2E"/>
                </a:solidFill>
                <a:latin typeface="Malgun Gothic"/>
              </a:rPr>
              <a:t>Focus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효율 · 방향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594360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88A2E"/>
                </a:solidFill>
                <a:latin typeface="Malgun Gothic"/>
              </a:rPr>
              <a:t>Tool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오늘 논의의 두 가지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프로그램 소개가 아니라, 일하는 방식에 대한 이야기입니다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2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920240"/>
            <a:ext cx="53949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1945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568A"/>
                </a:solidFill>
                <a:latin typeface="Malgun Gothic"/>
              </a:rPr>
              <a:t>01   효율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74320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220"/>
                </a:solidFill>
                <a:latin typeface="Malgun Gothic"/>
              </a:rPr>
              <a:t>AI를 어디에, 어떻게 붙일 때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2000" b="1">
                <a:solidFill>
                  <a:srgbClr val="0B1220"/>
                </a:solidFill>
                <a:latin typeface="Malgun Gothic"/>
              </a:rPr>
              <a:t>실제 생산성이 올라가는가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548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조사 · 초안 · 반복 수정 · 표준 적용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39496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568A"/>
                </a:solidFill>
                <a:latin typeface="Malgun Gothic"/>
              </a:rPr>
              <a:t>02  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4320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1220"/>
                </a:solidFill>
                <a:latin typeface="Malgun Gothic"/>
              </a:rPr>
              <a:t>개인 역량에 맡기지 않고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2000" b="1">
                <a:solidFill>
                  <a:srgbClr val="0B1220"/>
                </a:solidFill>
                <a:latin typeface="Malgun Gothic"/>
              </a:rPr>
              <a:t>조직 역량으로 남기려면 무엇이 필요한가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754880"/>
            <a:ext cx="4663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규칙 · 스킬 · 재사용 · 측정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OBSERVATION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AI를 도입해도 효율이 안 나는 경우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도구 문제가 아니라, 사용 방식의 문제입니다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3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0972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828800"/>
            <a:ext cx="109728" cy="96012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933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매번 다른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30428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같은 표준을 대화마다 다시 설명 → 결과 편차 발생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26080"/>
            <a:ext cx="10972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2926080"/>
            <a:ext cx="109728" cy="96012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0906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조사 없는 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40156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근거 없이 코드만 생성 → 검증·재작업 비용 증가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023360"/>
            <a:ext cx="10972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4023360"/>
            <a:ext cx="109728" cy="96012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1879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개인 의존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49884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잘하는 사람만 잘 씀 → 조직 전체 생산성으로 전이되지 않음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120640"/>
            <a:ext cx="10972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5120640"/>
            <a:ext cx="109728" cy="96012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28523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결과물 중심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596128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산출물 유무만 보고, 재사용·표준화는 남지 않음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효율이 나는 AI 활용의 세 가지 조건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프롬프트 요령이 아니라, 일하는 구조입니다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4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3611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828800"/>
            <a:ext cx="3611880" cy="91440"/>
          </a:xfrm>
          <a:prstGeom prst="rect">
            <a:avLst/>
          </a:prstGeom>
          <a:solidFill>
            <a:srgbClr val="1A5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57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568A"/>
                </a:solidFill>
                <a:latin typeface="Malgun Gothic"/>
              </a:rPr>
              <a:t>범위 고정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AI가 해도 되는 일과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사람이 해야 하는 일을 나눕니다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조사·초안·반복 수정 → AI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판단·책임·운영 확정 → 사람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828800"/>
            <a:ext cx="3611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1828800"/>
            <a:ext cx="3611880" cy="91440"/>
          </a:xfrm>
          <a:prstGeom prst="rect">
            <a:avLst/>
          </a:prstGeom>
          <a:solidFill>
            <a:srgbClr val="1A5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057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568A"/>
                </a:solidFill>
                <a:latin typeface="Malgun Gothic"/>
              </a:rPr>
              <a:t>표준 선반영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6060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매번 지시하지 않도록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규칙을 저장소에 둡니다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114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Rules: 상시 자동 적용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Skills: 작업별 절차 재사용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1828800"/>
            <a:ext cx="36118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828800"/>
            <a:ext cx="3611880" cy="91440"/>
          </a:xfrm>
          <a:prstGeom prst="rect">
            <a:avLst/>
          </a:prstGeom>
          <a:solidFill>
            <a:srgbClr val="1A56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0574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568A"/>
                </a:solidFill>
                <a:latin typeface="Malgun Gothic"/>
              </a:rPr>
              <a:t>검증 루프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60604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생성으로 끝내지 않고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진단–수정–확인을 짧게 돕니다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11480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오류·권한·성능 이슈를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같은 맥락에서 즉시 처리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적용 사례로 확인한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SAP 통합 운영 모니터링 — 목적물이 아니라 검증 무대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5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56692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574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568A"/>
                </a:solidFill>
                <a:latin typeface="Malgun Gothic"/>
              </a:rPr>
              <a:t>한 과제로 전 과정을 관통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560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220"/>
                </a:solidFill>
                <a:latin typeface="Malgun Gothic"/>
              </a:rPr>
              <a:t>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5603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설계서·결정사항 이력을 대화로 유지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220"/>
                </a:solidFill>
                <a:latin typeface="Malgun Gothic"/>
              </a:rPr>
              <a:t>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2004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권한 추적 자료를 AI가 읽어 필요 권한 도출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8404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220"/>
                </a:solidFill>
                <a:latin typeface="Malgun Gothic"/>
              </a:rPr>
              <a:t>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38404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생성–오류진단–수정을 짧은 사이클로 반복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8056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B1220"/>
                </a:solidFill>
                <a:latin typeface="Malgun Gothic"/>
              </a:rPr>
              <a:t>표준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480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읽기전용·명명·구조를 Rules로 상시 강제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828800"/>
            <a:ext cx="5029200" cy="411480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19456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88A2E"/>
                </a:solidFill>
                <a:latin typeface="Malgun Gothic"/>
              </a:rPr>
              <a:t>이 사례에서 얻은 결론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AI는 “대신 코딩하는 도구”가 아니라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“조사–초안–수정의 가속기”로 쓸 때 효과가 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379476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표준을 .md로 고정하지 않으면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같은 실수를 세션마다 반복함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475488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사람은 판단과 검증에 집중할수록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Malgun Gothic"/>
              </a:rPr>
              <a:t>전체 리드타임이 줄어듦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MECHANISM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효율을 재현 가능하게 만드는 장치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개인 프롬프트 → 조직 자산으로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6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539496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057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Rules  —  항상 켜져 있는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읽기 전용, 표준 객체만 사용 등 불변식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매 대화마다 다시 설명하지 않음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위반을 사전에 차단 → 재작업 감소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28800"/>
            <a:ext cx="539496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0574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Skills  —  필요할 때 꺼내는 절차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60604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구현 · 리뷰 · 성능 · 디버깅 · 문서/PR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검증된 순서를 그대로 재실행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–  담당자·세션이 바뀌어도 품질 편차 축소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74920"/>
            <a:ext cx="11018520" cy="10972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A2E"/>
                </a:solidFill>
                <a:latin typeface="Malgun Gothic"/>
              </a:rPr>
              <a:t>핵심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AI 효율은 “누가 더 잘 물어보느냐”가 아니라, “조직이 무엇을 규칙으로 고정해 두었느냐”에서 갈립니다.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2004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A568A"/>
                </a:solidFill>
                <a:latin typeface="Malgun Gothic"/>
              </a:rPr>
              <a:t>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5943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B1220"/>
                </a:solidFill>
                <a:latin typeface="Malgun Gothic"/>
              </a:rPr>
              <a:t>앞으로 가져가야 할 방향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678"/>
                </a:solidFill>
                <a:latin typeface="Malgun Gothic"/>
              </a:rPr>
              <a:t>도입 여부를 넘어, 운영 방식으로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17320"/>
            <a:ext cx="82296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601968"/>
            <a:ext cx="822960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AI 활용 효율성  ·  향후 방향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601968"/>
            <a:ext cx="128016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Malgun Gothic"/>
              </a:rPr>
              <a:t>7  / 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09728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828800"/>
            <a:ext cx="1234440" cy="10058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828800"/>
            <a:ext cx="1234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단기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116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검증된 과제에 AI+Rules를 기본 세트로 적용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317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새 과제 착수 시 규칙/스킬을 함께 준비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926080"/>
            <a:ext cx="109728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" y="2926080"/>
            <a:ext cx="1234440" cy="10058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26080"/>
            <a:ext cx="1234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중기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31089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팀 공통 Rules를 자산으로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42900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영역별 Skills를 축적하고 리뷰 기준으로 사용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023360"/>
            <a:ext cx="109728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94360" y="4023360"/>
            <a:ext cx="1234440" cy="10058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023360"/>
            <a:ext cx="1234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측정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206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체감이 아닌 전/후 소요시간으로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262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동일 난이도 과제 기준의 리드타임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5120640"/>
            <a:ext cx="109728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5120640"/>
            <a:ext cx="1234440" cy="100584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120640"/>
            <a:ext cx="123444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algun Gothic"/>
              </a:rPr>
              <a:t>확산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303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1220"/>
                </a:solidFill>
                <a:latin typeface="Malgun Gothic"/>
              </a:rPr>
              <a:t>개인 성공 사례를 조직 가이드로 전환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23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678"/>
                </a:solidFill>
                <a:latin typeface="Malgun Gothic"/>
              </a:rPr>
              <a:t>잘한 프롬프트가 아니라, 재사용 가능한 절차를 공유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88A2E"/>
                </a:solidFill>
                <a:latin typeface="Malgun Gothic"/>
              </a:rPr>
              <a:t>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789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algun Gothic"/>
              </a:rPr>
              <a:t>AI는 도입하는 순간이 아니라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Malgun Gothic"/>
              </a:rPr>
              <a:t>쓰는 구조를 만들 때 효율이 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B95A5"/>
                </a:solidFill>
                <a:latin typeface="Malgun Gothic"/>
              </a:rPr>
              <a:t>우리가 할 일:  범위 고정  ·  표준(.md) 자산화  ·  검증 루프  ·  전/후 측정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5A6678"/>
                </a:solidFill>
                <a:latin typeface="Malgun Gothic"/>
              </a:rPr>
              <a:t>사례는 이미 한 번 확인했습니다. 다음은 조직 습관으로 옮기는 단계입니다.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394960"/>
            <a:ext cx="1828800" cy="38100"/>
          </a:xfrm>
          <a:prstGeom prst="rect">
            <a:avLst/>
          </a:prstGeom>
          <a:solidFill>
            <a:srgbClr val="B8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질의응답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