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【0:00–0:40】 인사 및 목적 한 문장.</a:t>
            </a:r>
          </a:p>
          <a:p>
            <a:r>
              <a:t>“오늘은 결과물 데모보다, AI를 개발 전 과정에 적용해 얻은 생산성·품질 효과를 중심으로 보고드리겠습니다.”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【0:40–1:10】 아젠다를 한 줄씩 짚고, 오늘은 데모보다 방법론·효과에 비중을 둔다고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【1:10–2:20】 운영자가 매일 겪는 현실을 짧게.</a:t>
            </a:r>
          </a:p>
          <a:p>
            <a:r>
              <a:t>“기능이 없어서가 아니라, 정보가 흩어져 있어 점검 비용이 큽니다.”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【2:20–3:40】 솔루션은 1분 내로 압축.</a:t>
            </a:r>
          </a:p>
          <a:p>
            <a:r>
              <a:t>“핵심은 통합 뷰 + 읽기 전용 안전장치입니다. 데모는 필요 시 별도.”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【3:40–5:20】 핵심 슬라이드. 5개 단계별로 실제 사례 한 문장씩.</a:t>
            </a:r>
          </a:p>
          <a:p>
            <a:r>
              <a:t>예: “권한은 STAUTHTRACE 엑셀을 AI가 읽어 객체를 도출했고, 사람은 최종 값만 확정했습니다.”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【5:20–6:50】 “프롬프트를 잘 쓰는 것”이 아니라 “표준을 코드처럼 저장소에 고정”한 점이 차별점이라고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【6:50–8:10】 숫자를 과장하지 말 것. “추정”임을 분명히 하고, 실측 계획을 다음 슬라이드와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【8:10–9:40】 기대효과 → 향후계획 → 핵심메시지.</a:t>
            </a:r>
          </a:p>
          <a:p>
            <a:r>
              <a:t>【9:40–10:00】 Q&amp;A 유도. 예상 질문: 정량 수치, 보안/권한, 운영 적용 일정, 타 과제 확대.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4D8C"/>
                </a:solidFill>
                <a:latin typeface="Malgun Gothic"/>
              </a:rPr>
              <a:t>AI 활용 개발 성과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F1F3D"/>
                </a:solidFill>
                <a:latin typeface="Malgun Gothic"/>
              </a:rPr>
              <a:t>Cursor 기반 AI 페어프로그래밍으로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3200" b="1">
                <a:solidFill>
                  <a:srgbClr val="0F1F3D"/>
                </a:solidFill>
                <a:latin typeface="Malgun Gothic"/>
              </a:rPr>
              <a:t>구축한 통합 운영 모니터링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645920" cy="5080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A"/>
                </a:solidFill>
                <a:latin typeface="Malgun Gothic"/>
              </a:rPr>
              <a:t>SM37 · ST22 · SXI_MONITOR 점검을 단일 대시보드로 통합하고,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500" b="0">
                <a:solidFill>
                  <a:srgbClr val="5B677A"/>
                </a:solidFill>
                <a:latin typeface="Malgun Gothic"/>
              </a:rPr>
              <a:t>개발 전 과정에 AI를 적용해 생산성·품질 표준화 효과를 검증한 사례입니다.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074920"/>
            <a:ext cx="2606040" cy="777240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4D8C"/>
                </a:solidFill>
                <a:latin typeface="Malgun Gothic"/>
              </a:rPr>
              <a:t>대상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1">
                <a:solidFill>
                  <a:srgbClr val="0F1F3D"/>
                </a:solidFill>
                <a:latin typeface="Malgun Gothic"/>
              </a:rPr>
              <a:t>상무님 포함 사내 동료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5074920"/>
            <a:ext cx="2606040" cy="777240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4D8C"/>
                </a:solidFill>
                <a:latin typeface="Malgun Gothic"/>
              </a:rPr>
              <a:t>시간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1">
                <a:solidFill>
                  <a:srgbClr val="0F1F3D"/>
                </a:solidFill>
                <a:latin typeface="Malgun Gothic"/>
              </a:rPr>
              <a:t>약 10분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5074920"/>
            <a:ext cx="2606040" cy="777240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4D8C"/>
                </a:solidFill>
                <a:latin typeface="Malgun Gothic"/>
              </a:rPr>
              <a:t>범위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1">
                <a:solidFill>
                  <a:srgbClr val="0F1F3D"/>
                </a:solidFill>
                <a:latin typeface="Malgun Gothic"/>
              </a:rPr>
              <a:t>SAP S/4HANA · ABAP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5074920"/>
            <a:ext cx="2606040" cy="777240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4D8C"/>
                </a:solidFill>
                <a:latin typeface="Malgun Gothic"/>
              </a:rPr>
              <a:t>도구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1">
                <a:solidFill>
                  <a:srgbClr val="0F1F3D"/>
                </a:solidFill>
                <a:latin typeface="Malgun Gothic"/>
              </a:rPr>
              <a:t>Cursor (AI)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26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Malgun Gothic"/>
              </a:rPr>
              <a:t>Confidential  ·  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01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오늘 말씀드릴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2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417320"/>
            <a:ext cx="1005840" cy="822960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5819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왜 이 과제인가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562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운영 점검의 분산과 누락 리스크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350008"/>
            <a:ext cx="108813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350008"/>
            <a:ext cx="1005840" cy="822960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5000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5146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무엇을 만들었는가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2788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읽기 전용 통합 모니터링 대시보드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82696"/>
            <a:ext cx="108813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82696"/>
            <a:ext cx="1005840" cy="822960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82696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4472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어떻게 개발했는가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7216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Cursor AI 페어프로그래밍 적용 방식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15384"/>
            <a:ext cx="108813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215384"/>
            <a:ext cx="1005840" cy="822960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15384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37997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표준을 어떻게 고정했는가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6542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Rules / Skills(.md) 기반 내재화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148072"/>
            <a:ext cx="108813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148072"/>
            <a:ext cx="1005840" cy="822960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148072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531266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어떤 효과가 있었는가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58698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생산성·품질 효과와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02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운영 점검은 왜 비효율적인가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3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33832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4D8C"/>
                </a:solidFill>
                <a:latin typeface="Malgun Gothic"/>
              </a:rPr>
              <a:t>SM37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배치 잡 에러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잡 실패·로그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417320"/>
            <a:ext cx="33832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4D8C"/>
                </a:solidFill>
                <a:latin typeface="Malgun Gothic"/>
              </a:rPr>
              <a:t>ST22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런타임 덤프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ABAP 단기 덤프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417320"/>
            <a:ext cx="33832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4D8C"/>
                </a:solidFill>
                <a:latin typeface="Malgun Gothic"/>
              </a:rPr>
              <a:t>SXI_MONITOR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인터페이스 에러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PI/PO 메시지 오류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108813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6332A"/>
                </a:solidFill>
                <a:latin typeface="Malgun Gothic"/>
              </a:rPr>
              <a:t>현행 운영의 구조적 한계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▸  점검 채널이 3개로 분산되어 매일 트랜잭션을 개별 실행해야 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▸  화면 전환이 잦아 점검 누락·지연 리스크가 상존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▸  현황 파악에 시간이 소요되어 “이상 징후 조기 인지”가 어려움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▸  동일 점검을 반복하면서도 표준화된 점검 뷰가 부재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03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단일 화면으로 운영 현황을 한눈에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4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4D8C"/>
                </a:solidFill>
                <a:latin typeface="Malgun Gothic"/>
              </a:rPr>
              <a:t>대시보드 구성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500" b="1">
                <a:solidFill>
                  <a:srgbClr val="0F1F3D"/>
                </a:solidFill>
                <a:latin typeface="Malgun Gothic"/>
              </a:rPr>
              <a:t>상단 요약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영역별 건수 · 신호등 · 조회 기간 · 최종 갱신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500" b="1">
                <a:solidFill>
                  <a:srgbClr val="0F1F3D"/>
                </a:solidFill>
                <a:latin typeface="Malgun Gothic"/>
              </a:rPr>
              <a:t>중간 차트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영역별 Top-N 에러 집중도 (IGS Chart)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500" b="1">
                <a:solidFill>
                  <a:srgbClr val="0F1F3D"/>
                </a:solidFill>
                <a:latin typeface="Malgun Gothic"/>
              </a:rPr>
              <a:t>하단 목록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상세 ALV · 더블클릭 시 표준 상세 화면 이동</a:t>
            </a:r>
          </a:p>
          <a:p>
            <a:pPr>
              <a:spcBef>
                <a:spcPts val="2000"/>
              </a:spcBef>
              <a:spcAft>
                <a:spcPts val="0"/>
              </a:spcAft>
            </a:pPr>
            <a:r>
              <a:rPr sz="1400" b="1">
                <a:solidFill>
                  <a:srgbClr val="1E4D8C"/>
                </a:solidFill>
                <a:latin typeface="Malgun Gothic"/>
              </a:rPr>
              <a:t>설계 원칙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읽기 전용 — 데이터 변경·COMMIT·LOCK 금지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SAP 표준 테이블/FM만 사용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영역별 권한 격리 — 일부 권한 없어도 나머지 동작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120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0116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F3D"/>
                </a:solidFill>
                <a:latin typeface="Malgun Gothic"/>
              </a:rPr>
              <a:t>한눈에 파악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3개 점검을 한 트랜잭션에서 동시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514600"/>
            <a:ext cx="5120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0116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F3D"/>
                </a:solidFill>
                <a:latin typeface="Malgun Gothic"/>
              </a:rPr>
              <a:t>빠른 드릴다운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목록 → 표준 상세(로그/덤프/메시지) 직행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657600"/>
            <a:ext cx="5120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0116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F3D"/>
                </a:solidFill>
                <a:latin typeface="Malgun Gothic"/>
              </a:rPr>
              <a:t>운영 안전성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조회 전용으로 운영계 영향 최소화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800600"/>
            <a:ext cx="5120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0116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F3D"/>
                </a:solidFill>
                <a:latin typeface="Malgun Gothic"/>
              </a:rPr>
              <a:t>확장 가능 구조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77A"/>
                </a:solidFill>
                <a:latin typeface="Malgun Gothic"/>
              </a:rPr>
              <a:t>영역 추가 시 Provider만 등록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04 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개발 전 과정에 AI(Cursor)를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5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32004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설계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설계서 초안·개정,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결정/미결 이력 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2103120" cy="109728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80360" y="141732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32004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분석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권한추적(STAUTHTRACE)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엑셀 분석 → 권한 도출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1417320"/>
            <a:ext cx="2103120" cy="10972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32004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조사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SAP 표준 FM·화면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사용법 즉시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417320"/>
            <a:ext cx="2103120" cy="109728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60920" y="141732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32004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구현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코드 생성 → 오류 진단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→ 수정 루프 가속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417320"/>
            <a:ext cx="2103120" cy="109728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0" y="141732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32004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F3D"/>
                </a:solidFill>
                <a:latin typeface="Malgun Gothic"/>
              </a:rPr>
              <a:t>검증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리뷰·표준 준수 점검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B677A"/>
                </a:solidFill>
                <a:latin typeface="Malgun Gothic"/>
              </a:rPr>
              <a:t>문서/PR 품질 균일화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417320"/>
            <a:ext cx="2103120" cy="10972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023360"/>
            <a:ext cx="10881360" cy="201168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8A1A"/>
                </a:solidFill>
                <a:latin typeface="Malgun Gothic"/>
              </a:rPr>
              <a:t>역할 분담의 재정의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algun Gothic"/>
              </a:rPr>
              <a:t>AI  :  조사 · 초안 작성 · 반복 수정 · 표준 체크리스트 적용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algun Gothic"/>
              </a:rPr>
              <a:t>개발자  :  요구 확정 · 설계 의사결정 · 결과 검증 · 운영 책임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FFD97A"/>
                </a:solidFill>
                <a:latin typeface="Malgun Gothic"/>
              </a:rPr>
              <a:t>→  “사람이 모든 것을 타이핑”하는 방식에서 “사람이 판단하고 AI가 실행”하는 방식으로 전환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05  STANDARDS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규칙·스킬(.md)로 개발 표준을 내재화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6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3492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685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.cursor/rules/abap-project-conventions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읽기 전용 불변식 (변경·COMMIT·LOCK 금지)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표준 테이블 / 표준 FM만 데이터 소스로 사용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기간 제한 SELECT · SELECT * 금지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인터페이스 기반 OO · 영역별 권한 격리</a:t>
            </a:r>
          </a:p>
          <a:p>
            <a:pPr>
              <a:spcBef>
                <a:spcPts val="1400"/>
              </a:spcBef>
              <a:spcAft>
                <a:spcPts val="0"/>
              </a:spcAft>
            </a:pPr>
            <a:r>
              <a:rPr sz="1200" b="1">
                <a:solidFill>
                  <a:srgbClr val="0E7C6B"/>
                </a:solidFill>
                <a:latin typeface="Malgun Gothic"/>
              </a:rPr>
              <a:t>→ 매 작업마다 재지시 없이 자동 준수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5349240" cy="5029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71600"/>
            <a:ext cx="5349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Rules  ·  상시 자동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3492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685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8A1A"/>
                </a:solidFill>
                <a:latin typeface="Malgun Gothic"/>
              </a:rPr>
              <a:t>.cursor/skills/*/SKILL.md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구현: 읽기전용 모니터링 · 클린 OO · 성능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검증: 코드리뷰 · 체계적 디버깅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문서: 설계서 · 커밋 메시지 · PR 작성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검증된 절차를 재사용 → 품질 편차 축소</a:t>
            </a:r>
          </a:p>
          <a:p>
            <a:pPr>
              <a:spcBef>
                <a:spcPts val="1400"/>
              </a:spcBef>
              <a:spcAft>
                <a:spcPts val="0"/>
              </a:spcAft>
            </a:pPr>
            <a:r>
              <a:rPr sz="1200" b="1">
                <a:solidFill>
                  <a:srgbClr val="0E7C6B"/>
                </a:solidFill>
                <a:latin typeface="Malgun Gothic"/>
              </a:rPr>
              <a:t>→ 사람·세션이 바뀌어도 동일 기준 유지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349240" cy="50292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371600"/>
            <a:ext cx="5349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Skills  ·  작업 유형별 플레이북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10927080" cy="1188720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0116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4D8C"/>
                </a:solidFill>
                <a:latin typeface="Malgun Gothic"/>
              </a:rPr>
              <a:t>md 표준화의 실무 효과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표준 설명 반복 제거  ·  재작업·휴먼에러 감소  ·  리뷰/문서 품질 균일화  ·  신규 인력 온보딩 가속  ·  규칙 자체를 버전관리하여 팀 단위 개선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06 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효율성 · 성과 (정성 중심 · 추정)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7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685800"/>
          <a:lstStyle/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설계–구현–검토를 단일 맥락으로 유지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요구 변경의 즉시 반영으로 완성도 조기 확보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조사·초안·수정의 대기시간 축소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3520440" cy="50292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71600"/>
            <a:ext cx="3520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개발 생산성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7160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685800"/>
          <a:lstStyle/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표준 FM/권한/화면 조사를 대화로 해결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문서·트랜잭션 탐색 시간 절감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의사결정에 필요한 근거를 빠르게 확보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371600"/>
            <a:ext cx="3520440" cy="5029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371600"/>
            <a:ext cx="3520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리서치 부담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37160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685800"/>
          <a:lstStyle/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Rules/Skills로 사내 표준 일관 적용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읽기 전용 위반·명명 오류 등 재작업 감소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A2332"/>
                </a:solidFill>
                <a:latin typeface="Malgun Gothic"/>
              </a:rPr>
              <a:t>•  리뷰·문서 산출물의 편차 축소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520440" cy="50292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371600"/>
            <a:ext cx="3520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품질 · 표준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846320"/>
            <a:ext cx="10927080" cy="123444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0116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8A1A"/>
                </a:solidFill>
                <a:latin typeface="Malgun Gothic"/>
              </a:rPr>
              <a:t>효과 규모 (추정)  ·  정량 실측은 후속 과제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algun Gothic"/>
              </a:rPr>
              <a:t>설계 문서화 · 표준 API 조사 · 오류 수정 사이클이 수작업 대비 유의미하게 단축된 것으로 판단합니다. 향후 동일 난이도 과제에 대해 개발 소요시간 전/후를 비교해 수치화할 예정입니다.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4D8C"/>
                </a:solidFill>
                <a:latin typeface="Malgun Gothic"/>
              </a:rPr>
              <a:t>07 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1F3D"/>
                </a:solidFill>
                <a:latin typeface="Malgun Gothic"/>
              </a:rPr>
              <a:t>기대 효과와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097280" cy="4445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통합 운영 모니터링  ·  AI 활용 개발 성과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Malgun Gothic"/>
              </a:rPr>
              <a:t>8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3492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685800"/>
          <a:lstStyle/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운영 점검 시간 단축 및 누락 방지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읽기 전용 설계로 운영 안전성 확보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AI 페어프로그래밍의 사내 적용 가능성 확인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Rules/Skills를 통한 개발 표준 자산화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5349240" cy="5029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71600"/>
            <a:ext cx="5349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기대 효과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3492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685800"/>
          <a:lstStyle/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검증본의 정식 오브젝트화 및 기능 고도화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개발 소요시간 전/후 비교로 정량 효과 실측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유사 ABAP 과제에 Rules/Skills 확대 적용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2332"/>
                </a:solidFill>
                <a:latin typeface="Malgun Gothic"/>
              </a:rPr>
              <a:t>•  팀 단위 AI 활용 가이드라인 정리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349240" cy="502920"/>
          </a:xfrm>
          <a:prstGeom prst="rect">
            <a:avLst/>
          </a:prstGeom>
          <a:solidFill>
            <a:srgbClr val="C4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371600"/>
            <a:ext cx="5349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향후 계획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63440"/>
            <a:ext cx="10927080" cy="14173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560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48A1A"/>
                </a:solidFill>
                <a:latin typeface="Malgun Gothic"/>
              </a:rPr>
              <a:t>핵심 메시지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algun Gothic"/>
              </a:rPr>
              <a:t>운영 점검을 통합하는 동시에, AI와 표준(.md)을 결합해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algun Gothic"/>
              </a:rPr>
              <a:t>개발 생산성과 품질을 함께 끌어올린 실행 사례입니다.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