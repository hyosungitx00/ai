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F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1828800"/>
            <a:ext cx="105156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000" b="0">
                <a:solidFill>
                  <a:srgbClr val="A8C5D8"/>
                </a:solidFill>
                <a:latin typeface="Malgun Gothic"/>
              </a:rPr>
              <a:t>ABAP 개발에 Cursor Skills를 적용하면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2377440"/>
            <a:ext cx="10515600" cy="12801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3200" b="1">
                <a:solidFill>
                  <a:srgbClr val="FFFFFF"/>
                </a:solidFill>
                <a:latin typeface="Malgun Gothic"/>
              </a:rPr>
              <a:t>질문·오류는 줄고, 품질은 유지되는가?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4023360"/>
            <a:ext cx="105156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600" b="0">
                <a:solidFill>
                  <a:srgbClr val="D0DCE8"/>
                </a:solidFill>
                <a:latin typeface="Malgun Gothic"/>
              </a:rPr>
              <a:t>Ops Monitor (SM37/ST22/SXI) 동일 설계서 재현 실험
Session A(장기 구현+Skills 정착) vs Session B(Greenfield 재현)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2F5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640080"/>
          </a:xfrm>
          <a:prstGeom prst="rect">
            <a:avLst/>
          </a:prstGeom>
          <a:solidFill>
            <a:srgbClr val="0B1F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777240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B1F3A"/>
                </a:solidFill>
                <a:latin typeface="Malgun Gothic"/>
              </a:rPr>
              <a:t>목차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554480"/>
            <a:ext cx="109728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600" b="0">
                <a:solidFill>
                  <a:srgbClr val="1A1A1A"/>
                </a:solidFill>
                <a:latin typeface="Malgun Gothic"/>
              </a:rPr>
              <a:t>1. 실험 구조 — 두 세션의 관계</a:t>
            </a:r>
          </a:p>
          <a:p>
            <a:pPr>
              <a:spcAft>
                <a:spcPts val="800"/>
              </a:spcAft>
            </a:pPr>
            <a:r>
              <a:rPr sz="1600" b="0">
                <a:solidFill>
                  <a:srgbClr val="1A1A1A"/>
                </a:solidFill>
                <a:latin typeface="Malgun Gothic"/>
              </a:rPr>
              <a:t>2. Skills로 무엇을 고착했는가</a:t>
            </a:r>
          </a:p>
          <a:p>
            <a:pPr>
              <a:spcAft>
                <a:spcPts val="800"/>
              </a:spcAft>
            </a:pPr>
            <a:r>
              <a:rPr sz="1600" b="0">
                <a:solidFill>
                  <a:srgbClr val="1A1A1A"/>
                </a:solidFill>
                <a:latin typeface="Malgun Gothic"/>
              </a:rPr>
              <a:t>3. ‘만족할 때까지 질문 수’의 한계</a:t>
            </a:r>
          </a:p>
          <a:p>
            <a:pPr>
              <a:spcAft>
                <a:spcPts val="800"/>
              </a:spcAft>
            </a:pPr>
            <a:r>
              <a:rPr sz="1600" b="0">
                <a:solidFill>
                  <a:srgbClr val="1A1A1A"/>
                </a:solidFill>
                <a:latin typeface="Malgun Gothic"/>
              </a:rPr>
              <a:t>4. 품질 동등성(Parity) 채점표 · Hard Gate</a:t>
            </a:r>
          </a:p>
          <a:p>
            <a:pPr>
              <a:spcAft>
                <a:spcPts val="800"/>
              </a:spcAft>
            </a:pPr>
            <a:r>
              <a:rPr sz="1600" b="0">
                <a:solidFill>
                  <a:srgbClr val="1A1A1A"/>
                </a:solidFill>
                <a:latin typeface="Malgun Gothic"/>
              </a:rPr>
              <a:t>5. 최종 점수 &amp; 질문 수에 따른 향상 곡선</a:t>
            </a:r>
          </a:p>
          <a:p>
            <a:pPr>
              <a:spcAft>
                <a:spcPts val="800"/>
              </a:spcAft>
            </a:pPr>
            <a:r>
              <a:rPr sz="1600" b="0">
                <a:solidFill>
                  <a:srgbClr val="1A1A1A"/>
                </a:solidFill>
                <a:latin typeface="Malgun Gothic"/>
              </a:rPr>
              <a:t>6. 일반화 한계와 다음 단계</a:t>
            </a:r>
          </a:p>
          <a:p>
            <a:pPr>
              <a:spcAft>
                <a:spcPts val="800"/>
              </a:spcAft>
            </a:pPr>
            <a:r>
              <a:rPr sz="1600" b="0">
                <a:solidFill>
                  <a:srgbClr val="1A1A1A"/>
                </a:solidFill>
                <a:latin typeface="Malgun Gothic"/>
              </a:rPr>
              <a:t>7. 보고용 결론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6309360"/>
            <a:ext cx="109728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 b="0">
                <a:solidFill>
                  <a:srgbClr val="5A5A5A"/>
                </a:solidFill>
                <a:latin typeface="Malgun Gothic"/>
              </a:rPr>
              <a:t>Cursor × ABAP Skills 실험  |  2/12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2F5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640080"/>
          </a:xfrm>
          <a:prstGeom prst="rect">
            <a:avLst/>
          </a:prstGeom>
          <a:solidFill>
            <a:srgbClr val="0B1F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777240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B1F3A"/>
                </a:solidFill>
                <a:latin typeface="Malgun Gothic"/>
              </a:rPr>
              <a:t>1. 실험 구조 — 두 세션의 관계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548640" y="1554480"/>
          <a:ext cx="11064240" cy="29260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11680"/>
                <a:gridCol w="4572000"/>
                <a:gridCol w="4480560"/>
              </a:tblGrid>
              <a:tr h="585216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Malgun Gothic"/>
                        </a:rPr>
                        <a:t>구분</a:t>
                      </a:r>
                    </a:p>
                  </a:txBody>
                  <a:tcPr>
                    <a:solidFill>
                      <a:srgbClr val="0B1F3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Malgun Gothic"/>
                        </a:rPr>
                        <a:t>Session A</a:t>
                      </a:r>
                    </a:p>
                  </a:txBody>
                  <a:tcPr>
                    <a:solidFill>
                      <a:srgbClr val="0B1F3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Malgun Gothic"/>
                        </a:rPr>
                        <a:t>Session B</a:t>
                      </a:r>
                    </a:p>
                  </a:txBody>
                  <a:tcPr>
                    <a:solidFill>
                      <a:srgbClr val="0B1F3A"/>
                    </a:solidFill>
                  </a:tcPr>
                </a:tc>
              </a:tr>
              <a:tr h="585216"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A1A1A"/>
                          </a:solidFill>
                          <a:latin typeface="Malgun Gothic"/>
                        </a:rPr>
                        <a:t>이름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A1A1A"/>
                          </a:solidFill>
                          <a:latin typeface="Malgun Gothic"/>
                        </a:rPr>
                        <a:t>Awesome skills automation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A1A1A"/>
                          </a:solidFill>
                          <a:latin typeface="Malgun Gothic"/>
                        </a:rPr>
                        <a:t>통합 운영 모니터링 대시보드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585216"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A1A1A"/>
                          </a:solidFill>
                          <a:latin typeface="Malgun Gothic"/>
                        </a:rPr>
                        <a:t>성격</a:t>
                      </a:r>
                    </a:p>
                  </a:txBody>
                  <a:tcPr>
                    <a:solidFill>
                      <a:srgbClr val="E8EEF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A1A1A"/>
                          </a:solidFill>
                          <a:latin typeface="Malgun Gothic"/>
                        </a:rPr>
                        <a:t>장기 구현 → 오류/UX 루프 → Skills 작성</a:t>
                      </a:r>
                    </a:p>
                  </a:txBody>
                  <a:tcPr>
                    <a:solidFill>
                      <a:srgbClr val="E8EEF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A1A1A"/>
                          </a:solidFill>
                          <a:latin typeface="Malgun Gothic"/>
                        </a:rPr>
                        <a:t>설계서+Skills만으로 Greenfield 재구현</a:t>
                      </a:r>
                    </a:p>
                  </a:txBody>
                  <a:tcPr>
                    <a:solidFill>
                      <a:srgbClr val="E8EEF3"/>
                    </a:solidFill>
                  </a:tcPr>
                </a:tc>
              </a:tr>
              <a:tr h="585216"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A1A1A"/>
                          </a:solidFill>
                          <a:latin typeface="Malgun Gothic"/>
                        </a:rPr>
                        <a:t>산출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A1A1A"/>
                          </a:solidFill>
                          <a:latin typeface="Malgun Gothic"/>
                        </a:rPr>
                        <a:t>Y_OPS_MONITOR_V2 + skills/rules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A1A1A"/>
                          </a:solidFill>
                          <a:latin typeface="Malgun Gothic"/>
                        </a:rPr>
                        <a:t>동일 프로그램 재생성 + scorecard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585216"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A1A1A"/>
                          </a:solidFill>
                          <a:latin typeface="Malgun Gothic"/>
                        </a:rPr>
                        <a:t>공정 Q</a:t>
                      </a:r>
                    </a:p>
                  </a:txBody>
                  <a:tcPr>
                    <a:solidFill>
                      <a:srgbClr val="E8EEF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A1A1A"/>
                          </a:solidFill>
                          <a:latin typeface="Malgun Gothic"/>
                        </a:rPr>
                        <a:t>≈63 (프로그램 관련)</a:t>
                      </a:r>
                    </a:p>
                  </a:txBody>
                  <a:tcPr>
                    <a:solidFill>
                      <a:srgbClr val="E8EEF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A1A1A"/>
                          </a:solidFill>
                          <a:latin typeface="Malgun Gothic"/>
                        </a:rPr>
                        <a:t>≈16</a:t>
                      </a:r>
                    </a:p>
                  </a:txBody>
                  <a:tcPr>
                    <a:solidFill>
                      <a:srgbClr val="E8EEF3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640080" y="4754880"/>
            <a:ext cx="109728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500" b="0">
                <a:solidFill>
                  <a:srgbClr val="1A1A1A"/>
                </a:solidFill>
                <a:latin typeface="Malgun Gothic"/>
              </a:rPr>
              <a:t>인과: A의 실패 패턴을 Skill/Rule로 고착 → B에서 동일 설계서를 더 짧은 과정으로 재현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6309360"/>
            <a:ext cx="109728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 b="0">
                <a:solidFill>
                  <a:srgbClr val="5A5A5A"/>
                </a:solidFill>
                <a:latin typeface="Malgun Gothic"/>
              </a:rPr>
              <a:t>Cursor × ABAP Skills 실험  |  3/12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2F5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640080"/>
          </a:xfrm>
          <a:prstGeom prst="rect">
            <a:avLst/>
          </a:prstGeom>
          <a:solidFill>
            <a:srgbClr val="0B1F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777240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B1F3A"/>
                </a:solidFill>
                <a:latin typeface="Malgun Gothic"/>
              </a:rPr>
              <a:t>2. Skills로 무엇을 고착했는가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554480"/>
            <a:ext cx="109728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500" b="0">
                <a:solidFill>
                  <a:srgbClr val="1A1A1A"/>
                </a:solidFill>
                <a:latin typeface="Malgun Gothic"/>
              </a:rPr>
              <a:t>Always-on Rules: 읽기전용 불변 · SE38 붙여넣기 · 선언+구현 동시</a:t>
            </a:r>
          </a:p>
          <a:p>
            <a:pPr>
              <a:spcAft>
                <a:spcPts val="800"/>
              </a:spcAft>
            </a:pPr>
            <a:r>
              <a:rPr sz="1500" b="0">
                <a:solidFill>
                  <a:srgbClr val="1A1A1A"/>
                </a:solidFill>
                <a:latin typeface="Malgun Gothic"/>
              </a:rPr>
              <a:t>abap-activation-preflight: 세션 실패 → P1~P10 정적 점검 (선언누락, ECC fcode, CSS {}, 타입…)</a:t>
            </a:r>
          </a:p>
          <a:p>
            <a:pPr>
              <a:spcAft>
                <a:spcPts val="800"/>
              </a:spcAft>
            </a:pPr>
            <a:r>
              <a:rPr sz="1500" b="0">
                <a:solidFill>
                  <a:srgbClr val="1A1A1A"/>
                </a:solidFill>
                <a:latin typeface="Malgun Gothic"/>
              </a:rPr>
              <a:t>abap-ops-monitor-ux: HTML 차트/STATS·HELP · 영역색 · ALV 최소 툴바</a:t>
            </a:r>
          </a:p>
          <a:p>
            <a:pPr>
              <a:spcAft>
                <a:spcPts val="800"/>
              </a:spcAft>
            </a:pPr>
            <a:r>
              <a:rPr sz="1500" b="0">
                <a:solidFill>
                  <a:srgbClr val="1A1A1A"/>
                </a:solidFill>
                <a:latin typeface="Malgun Gothic"/>
              </a:rPr>
              <a:t>abap-requirement-intake: 모호한 UX 요청을 ≤8 선택지로 한 번 계약</a:t>
            </a:r>
          </a:p>
          <a:p>
            <a:pPr>
              <a:spcAft>
                <a:spcPts val="800"/>
              </a:spcAft>
            </a:pPr>
            <a:r>
              <a:rPr sz="1500" b="0">
                <a:solidFill>
                  <a:srgbClr val="1A1A1A"/>
                </a:solidFill>
                <a:latin typeface="Malgun Gothic"/>
              </a:rPr>
              <a:t>가이드/템플릿: 최소 프롬프트 · Replay 테스트 · Parity 채점표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6309360"/>
            <a:ext cx="109728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 b="0">
                <a:solidFill>
                  <a:srgbClr val="5A5A5A"/>
                </a:solidFill>
                <a:latin typeface="Malgun Gothic"/>
              </a:rPr>
              <a:t>Cursor × ABAP Skills 실험  |  4/12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2F5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640080"/>
          </a:xfrm>
          <a:prstGeom prst="rect">
            <a:avLst/>
          </a:prstGeom>
          <a:solidFill>
            <a:srgbClr val="0B1F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777240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B1F3A"/>
                </a:solidFill>
                <a:latin typeface="Malgun Gothic"/>
              </a:rPr>
              <a:t>3. ‘만족할 때까지 질문 수’만으로는 객관적이지 않음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554480"/>
            <a:ext cx="109728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500" b="0">
                <a:solidFill>
                  <a:srgbClr val="1A1A1A"/>
                </a:solidFill>
                <a:latin typeface="Malgun Gothic"/>
              </a:rPr>
              <a:t>문제: 사용자가 그만둔 시점이 곧 ‘품질 달성’이 됨 → 채점 기준이 주관적</a:t>
            </a:r>
          </a:p>
          <a:p>
            <a:pPr>
              <a:spcAft>
                <a:spcPts val="800"/>
              </a:spcAft>
            </a:pPr>
            <a:r>
              <a:rPr sz="1500" b="0">
                <a:solidFill>
                  <a:srgbClr val="1A1A1A"/>
                </a:solidFill>
                <a:latin typeface="Malgun Gothic"/>
              </a:rPr>
              <a:t>해결: 품질(Parity)과 과정(질문·오류 수)을 분리 측정</a:t>
            </a:r>
          </a:p>
          <a:p>
            <a:pPr>
              <a:spcAft>
                <a:spcPts val="800"/>
              </a:spcAft>
            </a:pPr>
            <a:r>
              <a:rPr sz="1500" b="0">
                <a:solidFill>
                  <a:srgbClr val="1A1A1A"/>
                </a:solidFill>
                <a:latin typeface="Malgun Gothic"/>
              </a:rPr>
              <a:t>품질 = 동일 설계서 대비 채점표 점수 (만점 56)</a:t>
            </a:r>
          </a:p>
          <a:p>
            <a:pPr>
              <a:spcAft>
                <a:spcPts val="800"/>
              </a:spcAft>
            </a:pPr>
            <a:r>
              <a:rPr sz="1500" b="0">
                <a:solidFill>
                  <a:srgbClr val="1A1A1A"/>
                </a:solidFill>
                <a:latin typeface="Malgun Gothic"/>
              </a:rPr>
              <a:t>과정 = cum_Q_program / E_compile / E_runtime (효율 지표)</a:t>
            </a:r>
          </a:p>
          <a:p>
            <a:pPr>
              <a:spcAft>
                <a:spcPts val="800"/>
              </a:spcAft>
            </a:pPr>
            <a:r>
              <a:rPr sz="1500" b="0">
                <a:solidFill>
                  <a:srgbClr val="1A1A1A"/>
                </a:solidFill>
                <a:latin typeface="Malgun Gothic"/>
              </a:rPr>
              <a:t>DoD(완료정의)도 내부 체크리스트일 뿐, 외부 공인 지표가 아님 → Parity로 대체·보완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6309360"/>
            <a:ext cx="109728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 b="0">
                <a:solidFill>
                  <a:srgbClr val="5A5A5A"/>
                </a:solidFill>
                <a:latin typeface="Malgun Gothic"/>
              </a:rPr>
              <a:t>Cursor × ABAP Skills 실험  |  5/12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2F5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640080"/>
          </a:xfrm>
          <a:prstGeom prst="rect">
            <a:avLst/>
          </a:prstGeom>
          <a:solidFill>
            <a:srgbClr val="0B1F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777240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B1F3A"/>
                </a:solidFill>
                <a:latin typeface="Malgun Gothic"/>
              </a:rPr>
              <a:t>4. Parity 채점표 (56점) + Hard Gate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548640" y="1463040"/>
          <a:ext cx="11064240" cy="23774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86000"/>
                <a:gridCol w="1097280"/>
                <a:gridCol w="7680960"/>
              </a:tblGrid>
              <a:tr h="475488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Malgun Gothic"/>
                        </a:rPr>
                        <a:t>섹션</a:t>
                      </a:r>
                    </a:p>
                  </a:txBody>
                  <a:tcPr>
                    <a:solidFill>
                      <a:srgbClr val="0B1F3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Malgun Gothic"/>
                        </a:rPr>
                        <a:t>만점</a:t>
                      </a:r>
                    </a:p>
                  </a:txBody>
                  <a:tcPr>
                    <a:solidFill>
                      <a:srgbClr val="0B1F3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Malgun Gothic"/>
                        </a:rPr>
                        <a:t>내용</a:t>
                      </a:r>
                    </a:p>
                  </a:txBody>
                  <a:tcPr>
                    <a:solidFill>
                      <a:srgbClr val="0B1F3A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A1A1A"/>
                          </a:solidFill>
                          <a:latin typeface="Malgun Gothic"/>
                        </a:rPr>
                        <a:t>S1 기능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A1A1A"/>
                          </a:solidFill>
                          <a:latin typeface="Malgun Gothic"/>
                        </a:rPr>
                        <a:t>20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A1A1A"/>
                          </a:solidFill>
                          <a:latin typeface="Malgun Gothic"/>
                        </a:rPr>
                        <a:t>FR: 3영역 조회·대시보드·기간·On/Off·드릴다운·권한…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A1A1A"/>
                          </a:solidFill>
                          <a:latin typeface="Malgun Gothic"/>
                        </a:rPr>
                        <a:t>S2 안전</a:t>
                      </a:r>
                    </a:p>
                  </a:txBody>
                  <a:tcPr>
                    <a:solidFill>
                      <a:srgbClr val="E8EEF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A1A1A"/>
                          </a:solidFill>
                          <a:latin typeface="Malgun Gothic"/>
                        </a:rPr>
                        <a:t>12</a:t>
                      </a:r>
                    </a:p>
                  </a:txBody>
                  <a:tcPr>
                    <a:solidFill>
                      <a:srgbClr val="E8EEF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A1A1A"/>
                          </a:solidFill>
                          <a:latin typeface="Malgun Gothic"/>
                        </a:rPr>
                        <a:t>읽기전용·표준오브젝트·모듈화·활성화</a:t>
                      </a:r>
                    </a:p>
                  </a:txBody>
                  <a:tcPr>
                    <a:solidFill>
                      <a:srgbClr val="E8EEF3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A1A1A"/>
                          </a:solidFill>
                          <a:latin typeface="Malgun Gothic"/>
                        </a:rPr>
                        <a:t>S3 UX 바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A1A1A"/>
                          </a:solidFill>
                          <a:latin typeface="Malgun Gothic"/>
                        </a:rPr>
                        <a:t>16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A1A1A"/>
                          </a:solidFill>
                          <a:latin typeface="Malgun Gothic"/>
                        </a:rPr>
                        <a:t>HTML차트·영역색·스케일·STATS/HELP·ALV툴바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A1A1A"/>
                          </a:solidFill>
                          <a:latin typeface="Malgun Gothic"/>
                        </a:rPr>
                        <a:t>S4 전달</a:t>
                      </a:r>
                    </a:p>
                  </a:txBody>
                  <a:tcPr>
                    <a:solidFill>
                      <a:srgbClr val="E8EEF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A1A1A"/>
                          </a:solidFill>
                          <a:latin typeface="Malgun Gothic"/>
                        </a:rPr>
                        <a:t>8</a:t>
                      </a:r>
                    </a:p>
                  </a:txBody>
                  <a:tcPr>
                    <a:solidFill>
                      <a:srgbClr val="E8EEF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A1A1A"/>
                          </a:solidFill>
                          <a:latin typeface="Malgun Gothic"/>
                        </a:rPr>
                        <a:t>붙여넣기 소스·Dynpro가이드·선언완비·Selection texts</a:t>
                      </a:r>
                    </a:p>
                  </a:txBody>
                  <a:tcPr>
                    <a:solidFill>
                      <a:srgbClr val="E8EEF3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640080" y="4114800"/>
            <a:ext cx="109728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400" b="0">
                <a:solidFill>
                  <a:srgbClr val="1A1A1A"/>
                </a:solidFill>
                <a:latin typeface="Malgun Gothic"/>
              </a:rPr>
              <a:t>PASS = Total≥50 AND 차단 결함 0건 AND 활성화 성공(S2-06=2)</a:t>
            </a:r>
          </a:p>
          <a:p>
            <a:pPr>
              <a:spcAft>
                <a:spcPts val="800"/>
              </a:spcAft>
            </a:pPr>
            <a:r>
              <a:rPr sz="1400" b="0">
                <a:solidFill>
                  <a:srgbClr val="1A1A1A"/>
                </a:solidFill>
                <a:latin typeface="Malgun Gothic"/>
              </a:rPr>
              <a:t>차단 예: 문법 오류, 빈 화면, 팝업 X 불능, 필수 영역 조회 버그, 드릴다운 불능</a:t>
            </a:r>
          </a:p>
          <a:p>
            <a:pPr>
              <a:spcAft>
                <a:spcPts val="800"/>
              </a:spcAft>
            </a:pPr>
            <a:r>
              <a:rPr sz="1400" b="0">
                <a:solidFill>
                  <a:srgbClr val="1A1A1A"/>
                </a:solidFill>
                <a:latin typeface="Malgun Gothic"/>
              </a:rPr>
              <a:t>코드만 있고 미실기 → Total 상한 40 (코드 ≠ 동작)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6309360"/>
            <a:ext cx="109728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 b="0">
                <a:solidFill>
                  <a:srgbClr val="5A5A5A"/>
                </a:solidFill>
                <a:latin typeface="Malgun Gothic"/>
              </a:rPr>
              <a:t>Cursor × ABAP Skills 실험  |  6/12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2F5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640080"/>
          </a:xfrm>
          <a:prstGeom prst="rect">
            <a:avLst/>
          </a:prstGeom>
          <a:solidFill>
            <a:srgbClr val="0B1F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777240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B1F3A"/>
                </a:solidFill>
                <a:latin typeface="Malgun Gothic"/>
              </a:rPr>
              <a:t>5-1. 최종 품질 — 동등 (A 54 / B 55)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548640" y="1554480"/>
          <a:ext cx="11064239" cy="36576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657600"/>
                <a:gridCol w="3657600"/>
                <a:gridCol w="3749039"/>
              </a:tblGrid>
              <a:tr h="522514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Malgun Gothic"/>
                        </a:rPr>
                        <a:t>지표</a:t>
                      </a:r>
                    </a:p>
                  </a:txBody>
                  <a:tcPr>
                    <a:solidFill>
                      <a:srgbClr val="0B1F3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Malgun Gothic"/>
                        </a:rPr>
                        <a:t>Session A</a:t>
                      </a:r>
                    </a:p>
                  </a:txBody>
                  <a:tcPr>
                    <a:solidFill>
                      <a:srgbClr val="0B1F3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Malgun Gothic"/>
                        </a:rPr>
                        <a:t>Session B</a:t>
                      </a:r>
                    </a:p>
                  </a:txBody>
                  <a:tcPr>
                    <a:solidFill>
                      <a:srgbClr val="0B1F3A"/>
                    </a:solidFill>
                  </a:tcPr>
                </a:tc>
              </a:tr>
              <a:tr h="522514"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A1A1A"/>
                          </a:solidFill>
                          <a:latin typeface="Malgun Gothic"/>
                        </a:rPr>
                        <a:t>Parity 총점 (/56)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A1A1A"/>
                          </a:solidFill>
                          <a:latin typeface="Malgun Gothic"/>
                        </a:rPr>
                        <a:t>54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A1A1A"/>
                          </a:solidFill>
                          <a:latin typeface="Malgun Gothic"/>
                        </a:rPr>
                        <a:t>55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522514"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A1A1A"/>
                          </a:solidFill>
                          <a:latin typeface="Malgun Gothic"/>
                        </a:rPr>
                        <a:t>등급</a:t>
                      </a:r>
                    </a:p>
                  </a:txBody>
                  <a:tcPr>
                    <a:solidFill>
                      <a:srgbClr val="E8EEF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A1A1A"/>
                          </a:solidFill>
                          <a:latin typeface="Malgun Gothic"/>
                        </a:rPr>
                        <a:t>PASS</a:t>
                      </a:r>
                    </a:p>
                  </a:txBody>
                  <a:tcPr>
                    <a:solidFill>
                      <a:srgbClr val="E8EEF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A1A1A"/>
                          </a:solidFill>
                          <a:latin typeface="Malgun Gothic"/>
                        </a:rPr>
                        <a:t>PASS</a:t>
                      </a:r>
                    </a:p>
                  </a:txBody>
                  <a:tcPr>
                    <a:solidFill>
                      <a:srgbClr val="E8EEF3"/>
                    </a:solidFill>
                  </a:tcPr>
                </a:tc>
              </a:tr>
              <a:tr h="522514"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A1A1A"/>
                          </a:solidFill>
                          <a:latin typeface="Malgun Gothic"/>
                        </a:rPr>
                        <a:t>|A−B|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A1A1A"/>
                          </a:solidFill>
                          <a:latin typeface="Malgun Gothic"/>
                        </a:rPr>
                        <a:t>1 → 품질 동등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/>
                  </a:txBody>
                  <a:tcPr>
                    <a:solidFill>
                      <a:srgbClr val="FFFFFF"/>
                    </a:solidFill>
                  </a:tcPr>
                </a:tc>
              </a:tr>
              <a:tr h="522514"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A1A1A"/>
                          </a:solidFill>
                          <a:latin typeface="Malgun Gothic"/>
                        </a:rPr>
                        <a:t>공정 Q (프로그램)</a:t>
                      </a:r>
                    </a:p>
                  </a:txBody>
                  <a:tcPr>
                    <a:solidFill>
                      <a:srgbClr val="E8EEF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A1A1A"/>
                          </a:solidFill>
                          <a:latin typeface="Malgun Gothic"/>
                        </a:rPr>
                        <a:t>≈63</a:t>
                      </a:r>
                    </a:p>
                  </a:txBody>
                  <a:tcPr>
                    <a:solidFill>
                      <a:srgbClr val="E8EEF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A1A1A"/>
                          </a:solidFill>
                          <a:latin typeface="Malgun Gothic"/>
                        </a:rPr>
                        <a:t>≈16</a:t>
                      </a:r>
                    </a:p>
                  </a:txBody>
                  <a:tcPr>
                    <a:solidFill>
                      <a:srgbClr val="E8EEF3"/>
                    </a:solidFill>
                  </a:tcPr>
                </a:tc>
              </a:tr>
              <a:tr h="522514"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A1A1A"/>
                          </a:solidFill>
                          <a:latin typeface="Malgun Gothic"/>
                        </a:rPr>
                        <a:t>E_compile (첨부)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A1A1A"/>
                          </a:solidFill>
                          <a:latin typeface="Malgun Gothic"/>
                        </a:rPr>
                        <a:t>~18+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A1A1A"/>
                          </a:solidFill>
                          <a:latin typeface="Malgun Gothic"/>
                        </a:rPr>
                        <a:t>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522516"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A1A1A"/>
                          </a:solidFill>
                          <a:latin typeface="Malgun Gothic"/>
                        </a:rPr>
                        <a:t>첫 PASS 도달 Q (Hard Gate)</a:t>
                      </a:r>
                    </a:p>
                  </a:txBody>
                  <a:tcPr>
                    <a:solidFill>
                      <a:srgbClr val="E8EEF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A1A1A"/>
                          </a:solidFill>
                          <a:latin typeface="Malgun Gothic"/>
                        </a:rPr>
                        <a:t>≈57</a:t>
                      </a:r>
                    </a:p>
                  </a:txBody>
                  <a:tcPr>
                    <a:solidFill>
                      <a:srgbClr val="E8EEF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A1A1A"/>
                          </a:solidFill>
                          <a:latin typeface="Malgun Gothic"/>
                        </a:rPr>
                        <a:t>≈12</a:t>
                      </a:r>
                    </a:p>
                  </a:txBody>
                  <a:tcPr>
                    <a:solidFill>
                      <a:srgbClr val="E8EEF3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548640" y="6309360"/>
            <a:ext cx="109728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 b="0">
                <a:solidFill>
                  <a:srgbClr val="5A5A5A"/>
                </a:solidFill>
                <a:latin typeface="Malgun Gothic"/>
              </a:rPr>
              <a:t>Cursor × ABAP Skills 실험  |  7/12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2F5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640080"/>
          </a:xfrm>
          <a:prstGeom prst="rect">
            <a:avLst/>
          </a:prstGeom>
          <a:solidFill>
            <a:srgbClr val="0B1F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777240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B1F3A"/>
                </a:solidFill>
                <a:latin typeface="Malgun Gothic"/>
              </a:rPr>
              <a:t>5-2. 질문 수에 따른 Parity 향상 (Hard Gate 보정)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554480"/>
            <a:ext cx="109728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500" b="0">
                <a:solidFill>
                  <a:srgbClr val="1A1A1A"/>
                </a:solidFill>
                <a:latin typeface="Malgun Gothic"/>
              </a:rPr>
              <a:t>잘못된 채점: B Q=1을 ‘소스에 HTML 있음’만으로 ~44점·조기 PASS처럼 처리</a:t>
            </a:r>
          </a:p>
          <a:p>
            <a:pPr>
              <a:spcAft>
                <a:spcPts val="800"/>
              </a:spcAft>
            </a:pPr>
            <a:r>
              <a:rPr sz="1500" b="0">
                <a:solidFill>
                  <a:srgbClr val="1A1A1A"/>
                </a:solidFill>
                <a:latin typeface="Malgun Gothic"/>
              </a:rPr>
              <a:t>올바른 채점: 활성화 전·팝업X 불능·ST22 0건(버그) 구간은 FAIL/PARTIAL</a:t>
            </a:r>
          </a:p>
          <a:p>
            <a:pPr>
              <a:spcAft>
                <a:spcPts val="800"/>
              </a:spcAft>
            </a:pPr>
            <a:r>
              <a:rPr sz="1500" b="0">
                <a:solidFill>
                  <a:srgbClr val="1A1A1A"/>
                </a:solidFill>
                <a:latin typeface="Malgun Gothic"/>
              </a:rPr>
              <a:t>B 실제 곡선: Q1=30(FAIL) → Q7 팝업/ST22 차단 → Q12=53(첫 PASS) → Q16=55</a:t>
            </a:r>
          </a:p>
          <a:p>
            <a:pPr>
              <a:spcAft>
                <a:spcPts val="800"/>
              </a:spcAft>
            </a:pPr>
            <a:r>
              <a:rPr sz="1500" b="0">
                <a:solidFill>
                  <a:srgbClr val="1A1A1A"/>
                </a:solidFill>
                <a:latin typeface="Malgun Gothic"/>
              </a:rPr>
              <a:t>A 실제 곡선: 천천히 상승, IGS/타입 오류로 정체 → Q≈57에서 첫 PASS → 최종 54</a:t>
            </a:r>
          </a:p>
          <a:p>
            <a:pPr>
              <a:spcAft>
                <a:spcPts val="800"/>
              </a:spcAft>
            </a:pPr>
            <a:r>
              <a:rPr sz="1500" b="0">
                <a:solidFill>
                  <a:srgbClr val="1A1A1A"/>
                </a:solidFill>
                <a:latin typeface="Malgun Gothic"/>
              </a:rPr>
              <a:t>효율: 첫 PASS까지 pt/Q  ≈ 0.89(A) vs ≈4.4(B)  — 같은 바, 더 짧은 과정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6309360"/>
            <a:ext cx="109728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 b="0">
                <a:solidFill>
                  <a:srgbClr val="5A5A5A"/>
                </a:solidFill>
                <a:latin typeface="Malgun Gothic"/>
              </a:rPr>
              <a:t>Cursor × ABAP Skills 실험  |  8/12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2F5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640080"/>
          </a:xfrm>
          <a:prstGeom prst="rect">
            <a:avLst/>
          </a:prstGeom>
          <a:solidFill>
            <a:srgbClr val="0B1F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777240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B1F3A"/>
                </a:solidFill>
                <a:latin typeface="Malgun Gothic"/>
              </a:rPr>
              <a:t>5-3. 동일 질문 수에서 본 점수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548640" y="1463040"/>
          <a:ext cx="11064240" cy="40233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28800"/>
                <a:gridCol w="2194560"/>
                <a:gridCol w="2194560"/>
                <a:gridCol w="2194560"/>
                <a:gridCol w="2651760"/>
              </a:tblGrid>
              <a:tr h="502920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Malgun Gothic"/>
                        </a:rPr>
                        <a:t>cum_Q</a:t>
                      </a:r>
                    </a:p>
                  </a:txBody>
                  <a:tcPr>
                    <a:solidFill>
                      <a:srgbClr val="0B1F3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Malgun Gothic"/>
                        </a:rPr>
                        <a:t>A Total</a:t>
                      </a:r>
                    </a:p>
                  </a:txBody>
                  <a:tcPr>
                    <a:solidFill>
                      <a:srgbClr val="0B1F3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Malgun Gothic"/>
                        </a:rPr>
                        <a:t>A 등급</a:t>
                      </a:r>
                    </a:p>
                  </a:txBody>
                  <a:tcPr>
                    <a:solidFill>
                      <a:srgbClr val="0B1F3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Malgun Gothic"/>
                        </a:rPr>
                        <a:t>B Total</a:t>
                      </a:r>
                    </a:p>
                  </a:txBody>
                  <a:tcPr>
                    <a:solidFill>
                      <a:srgbClr val="0B1F3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Malgun Gothic"/>
                        </a:rPr>
                        <a:t>B 등급</a:t>
                      </a:r>
                    </a:p>
                  </a:txBody>
                  <a:tcPr>
                    <a:solidFill>
                      <a:srgbClr val="0B1F3A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A1A1A"/>
                          </a:solidFill>
                          <a:latin typeface="Malgun Gothic"/>
                        </a:rPr>
                        <a:t>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A1A1A"/>
                          </a:solidFill>
                          <a:latin typeface="Malgun Gothic"/>
                        </a:rPr>
                        <a:t>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A1A1A"/>
                          </a:solidFill>
                          <a:latin typeface="Malgun Gothic"/>
                        </a:rPr>
                        <a:t>FAIL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A1A1A"/>
                          </a:solidFill>
                          <a:latin typeface="Malgun Gothic"/>
                        </a:rPr>
                        <a:t>30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A1A1A"/>
                          </a:solidFill>
                          <a:latin typeface="Malgun Gothic"/>
                        </a:rPr>
                        <a:t>FAIL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A1A1A"/>
                          </a:solidFill>
                          <a:latin typeface="Malgun Gothic"/>
                        </a:rPr>
                        <a:t>5</a:t>
                      </a:r>
                    </a:p>
                  </a:txBody>
                  <a:tcPr>
                    <a:solidFill>
                      <a:srgbClr val="E8EEF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A1A1A"/>
                          </a:solidFill>
                          <a:latin typeface="Malgun Gothic"/>
                        </a:rPr>
                        <a:t>~2</a:t>
                      </a:r>
                    </a:p>
                  </a:txBody>
                  <a:tcPr>
                    <a:solidFill>
                      <a:srgbClr val="E8EEF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A1A1A"/>
                          </a:solidFill>
                          <a:latin typeface="Malgun Gothic"/>
                        </a:rPr>
                        <a:t>FAIL</a:t>
                      </a:r>
                    </a:p>
                  </a:txBody>
                  <a:tcPr>
                    <a:solidFill>
                      <a:srgbClr val="E8EEF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A1A1A"/>
                          </a:solidFill>
                          <a:latin typeface="Malgun Gothic"/>
                        </a:rPr>
                        <a:t>40</a:t>
                      </a:r>
                    </a:p>
                  </a:txBody>
                  <a:tcPr>
                    <a:solidFill>
                      <a:srgbClr val="E8EEF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A1A1A"/>
                          </a:solidFill>
                          <a:latin typeface="Malgun Gothic"/>
                        </a:rPr>
                        <a:t>FAIL</a:t>
                      </a:r>
                    </a:p>
                  </a:txBody>
                  <a:tcPr>
                    <a:solidFill>
                      <a:srgbClr val="E8EEF3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A1A1A"/>
                          </a:solidFill>
                          <a:latin typeface="Malgun Gothic"/>
                        </a:rPr>
                        <a:t>10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A1A1A"/>
                          </a:solidFill>
                          <a:latin typeface="Malgun Gothic"/>
                        </a:rPr>
                        <a:t>~30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A1A1A"/>
                          </a:solidFill>
                          <a:latin typeface="Malgun Gothic"/>
                        </a:rPr>
                        <a:t>FAIL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A1A1A"/>
                          </a:solidFill>
                          <a:latin typeface="Malgun Gothic"/>
                        </a:rPr>
                        <a:t>47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A1A1A"/>
                          </a:solidFill>
                          <a:latin typeface="Malgun Gothic"/>
                        </a:rPr>
                        <a:t>PARTIAL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A1A1A"/>
                          </a:solidFill>
                          <a:latin typeface="Malgun Gothic"/>
                        </a:rPr>
                        <a:t>12</a:t>
                      </a:r>
                    </a:p>
                  </a:txBody>
                  <a:tcPr>
                    <a:solidFill>
                      <a:srgbClr val="E8EEF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A1A1A"/>
                          </a:solidFill>
                          <a:latin typeface="Malgun Gothic"/>
                        </a:rPr>
                        <a:t>~31</a:t>
                      </a:r>
                    </a:p>
                  </a:txBody>
                  <a:tcPr>
                    <a:solidFill>
                      <a:srgbClr val="E8EEF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A1A1A"/>
                          </a:solidFill>
                          <a:latin typeface="Malgun Gothic"/>
                        </a:rPr>
                        <a:t>FAIL</a:t>
                      </a:r>
                    </a:p>
                  </a:txBody>
                  <a:tcPr>
                    <a:solidFill>
                      <a:srgbClr val="E8EEF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A1A1A"/>
                          </a:solidFill>
                          <a:latin typeface="Malgun Gothic"/>
                        </a:rPr>
                        <a:t>53</a:t>
                      </a:r>
                    </a:p>
                  </a:txBody>
                  <a:tcPr>
                    <a:solidFill>
                      <a:srgbClr val="E8EEF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A1A1A"/>
                          </a:solidFill>
                          <a:latin typeface="Malgun Gothic"/>
                        </a:rPr>
                        <a:t>PASS</a:t>
                      </a:r>
                    </a:p>
                  </a:txBody>
                  <a:tcPr>
                    <a:solidFill>
                      <a:srgbClr val="E8EEF3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A1A1A"/>
                          </a:solidFill>
                          <a:latin typeface="Malgun Gothic"/>
                        </a:rPr>
                        <a:t>16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A1A1A"/>
                          </a:solidFill>
                          <a:latin typeface="Malgun Gothic"/>
                        </a:rPr>
                        <a:t>~33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A1A1A"/>
                          </a:solidFill>
                          <a:latin typeface="Malgun Gothic"/>
                        </a:rPr>
                        <a:t>FAIL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A1A1A"/>
                          </a:solidFill>
                          <a:latin typeface="Malgun Gothic"/>
                        </a:rPr>
                        <a:t>55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A1A1A"/>
                          </a:solidFill>
                          <a:latin typeface="Malgun Gothic"/>
                        </a:rPr>
                        <a:t>PASS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A1A1A"/>
                          </a:solidFill>
                          <a:latin typeface="Malgun Gothic"/>
                        </a:rPr>
                        <a:t>57</a:t>
                      </a:r>
                    </a:p>
                  </a:txBody>
                  <a:tcPr>
                    <a:solidFill>
                      <a:srgbClr val="E8EEF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A1A1A"/>
                          </a:solidFill>
                          <a:latin typeface="Malgun Gothic"/>
                        </a:rPr>
                        <a:t>51</a:t>
                      </a:r>
                    </a:p>
                  </a:txBody>
                  <a:tcPr>
                    <a:solidFill>
                      <a:srgbClr val="E8EEF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A1A1A"/>
                          </a:solidFill>
                          <a:latin typeface="Malgun Gothic"/>
                        </a:rPr>
                        <a:t>PASS</a:t>
                      </a:r>
                    </a:p>
                  </a:txBody>
                  <a:tcPr>
                    <a:solidFill>
                      <a:srgbClr val="E8EEF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A1A1A"/>
                          </a:solidFill>
                          <a:latin typeface="Malgun Gothic"/>
                        </a:rPr>
                        <a:t>—</a:t>
                      </a:r>
                    </a:p>
                  </a:txBody>
                  <a:tcPr>
                    <a:solidFill>
                      <a:srgbClr val="E8EEF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A1A1A"/>
                          </a:solidFill>
                          <a:latin typeface="Malgun Gothic"/>
                        </a:rPr>
                        <a:t>—</a:t>
                      </a:r>
                    </a:p>
                  </a:txBody>
                  <a:tcPr>
                    <a:solidFill>
                      <a:srgbClr val="E8EEF3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A1A1A"/>
                          </a:solidFill>
                          <a:latin typeface="Malgun Gothic"/>
                        </a:rPr>
                        <a:t>63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A1A1A"/>
                          </a:solidFill>
                          <a:latin typeface="Malgun Gothic"/>
                        </a:rPr>
                        <a:t>54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A1A1A"/>
                          </a:solidFill>
                          <a:latin typeface="Malgun Gothic"/>
                        </a:rPr>
                        <a:t>PASS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A1A1A"/>
                          </a:solidFill>
                          <a:latin typeface="Malgun Gothic"/>
                        </a:rPr>
                        <a:t>—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A1A1A"/>
                          </a:solidFill>
                          <a:latin typeface="Malgun Gothic"/>
                        </a:rPr>
                        <a:t>—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548640" y="6309360"/>
            <a:ext cx="109728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 b="0">
                <a:solidFill>
                  <a:srgbClr val="5A5A5A"/>
                </a:solidFill>
                <a:latin typeface="Malgun Gothic"/>
              </a:rPr>
              <a:t>Cursor × ABAP Skills 실험  |  9/12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2F5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640080"/>
          </a:xfrm>
          <a:prstGeom prst="rect">
            <a:avLst/>
          </a:prstGeom>
          <a:solidFill>
            <a:srgbClr val="0B1F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777240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B1F3A"/>
                </a:solidFill>
                <a:latin typeface="Malgun Gothic"/>
              </a:rPr>
              <a:t>6. 일반화 — 추정은 맞지만, 범위가 있다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554480"/>
            <a:ext cx="109728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500" b="0">
                <a:solidFill>
                  <a:srgbClr val="1A1A1A"/>
                </a:solidFill>
                <a:latin typeface="Malgun Gothic"/>
              </a:rPr>
              <a:t>큰 효과의 상당 부분 = 동일 설계서·동일 프로그램 유형의 오류를 목록화한 결과</a:t>
            </a:r>
          </a:p>
          <a:p>
            <a:pPr>
              <a:spcAft>
                <a:spcPts val="800"/>
              </a:spcAft>
            </a:pPr>
            <a:r>
              <a:rPr sz="1500" b="0">
                <a:solidFill>
                  <a:srgbClr val="1A1A1A"/>
                </a:solidFill>
                <a:latin typeface="Malgun Gothic"/>
              </a:rPr>
              <a:t>Preflight의 ~70%는 다른 ALV/HTML/OO 리포트에도 전이 가능 (선언, ECC fcode, CSS {})</a:t>
            </a:r>
          </a:p>
          <a:p>
            <a:pPr>
              <a:spcAft>
                <a:spcPts val="800"/>
              </a:spcAft>
            </a:pPr>
            <a:r>
              <a:rPr sz="1500" b="0">
                <a:solidFill>
                  <a:srgbClr val="1A1A1A"/>
                </a:solidFill>
                <a:latin typeface="Malgun Gothic"/>
              </a:rPr>
              <a:t>UX/도메인 스킬의 ~80%+는 Ops Monitor(SM37/ST22/SXI) 특화</a:t>
            </a:r>
          </a:p>
          <a:p>
            <a:pPr>
              <a:spcAft>
                <a:spcPts val="800"/>
              </a:spcAft>
            </a:pPr>
            <a:r>
              <a:rPr sz="1500" b="0">
                <a:solidFill>
                  <a:srgbClr val="1A1A1A"/>
                </a:solidFill>
                <a:latin typeface="Malgun Gothic"/>
              </a:rPr>
              <a:t>다른 형식 프로그램이면 특화 규칙이 약해져 오류·질문이 다시 늘 가능성 (유형 n=1)</a:t>
            </a:r>
          </a:p>
          <a:p>
            <a:pPr>
              <a:spcAft>
                <a:spcPts val="800"/>
              </a:spcAft>
            </a:pPr>
            <a:r>
              <a:rPr sz="1500" b="0">
                <a:solidFill>
                  <a:srgbClr val="1A1A1A"/>
                </a:solidFill>
                <a:latin typeface="Malgun Gothic"/>
              </a:rPr>
              <a:t>다양한 프로그램 대화를 쌓아 실패→규칙으로 승격할수록 일반 효과가 커짐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6309360"/>
            <a:ext cx="109728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 b="0">
                <a:solidFill>
                  <a:srgbClr val="5A5A5A"/>
                </a:solidFill>
                <a:latin typeface="Malgun Gothic"/>
              </a:rPr>
              <a:t>Cursor × ABAP Skills 실험  |  10/12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2F5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640080"/>
          </a:xfrm>
          <a:prstGeom prst="rect">
            <a:avLst/>
          </a:prstGeom>
          <a:solidFill>
            <a:srgbClr val="0B1F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777240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B1F3A"/>
                </a:solidFill>
                <a:latin typeface="Malgun Gothic"/>
              </a:rPr>
              <a:t>7. 보고용 결론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554480"/>
            <a:ext cx="109728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600" b="0">
                <a:solidFill>
                  <a:srgbClr val="1A1A1A"/>
                </a:solidFill>
                <a:latin typeface="Malgun Gothic"/>
              </a:rPr>
              <a:t>① 품질: 동일 Parity 채점표로 A=54, B=55 (Δ=1) → 유사 수준으로 생성됨</a:t>
            </a:r>
          </a:p>
          <a:p>
            <a:pPr>
              <a:spcAft>
                <a:spcPts val="800"/>
              </a:spcAft>
            </a:pPr>
            <a:r>
              <a:rPr sz="1600" b="0">
                <a:solidFill>
                  <a:srgbClr val="1A1A1A"/>
                </a:solidFill>
                <a:latin typeface="Malgun Gothic"/>
              </a:rPr>
              <a:t>② 과정: Hard Gate 기준 첫 PASS Q ≈57(A) → ≈12(B), 공정 질문 ≈63→16</a:t>
            </a:r>
          </a:p>
          <a:p>
            <a:pPr>
              <a:spcAft>
                <a:spcPts val="800"/>
              </a:spcAft>
            </a:pPr>
            <a:r>
              <a:rPr sz="1600" b="0">
                <a:solidFill>
                  <a:srgbClr val="1A1A1A"/>
                </a:solidFill>
                <a:latin typeface="Malgun Gothic"/>
              </a:rPr>
              <a:t>③ 방법: 실패를 Skill/Rule로 고착하면 같은/유사 유형의 왕복이 크게 감소</a:t>
            </a:r>
          </a:p>
          <a:p>
            <a:pPr>
              <a:spcAft>
                <a:spcPts val="800"/>
              </a:spcAft>
            </a:pPr>
            <a:r>
              <a:rPr sz="1600" b="0">
                <a:solidFill>
                  <a:srgbClr val="1A1A1A"/>
                </a:solidFill>
                <a:latin typeface="Malgun Gothic"/>
              </a:rPr>
              <a:t>④ 한계: ‘처음부터 완벽’이 아님. 활성화·런타임 결함 구간은 PASS 불가</a:t>
            </a:r>
          </a:p>
          <a:p>
            <a:pPr>
              <a:spcAft>
                <a:spcPts val="800"/>
              </a:spcAft>
            </a:pPr>
            <a:r>
              <a:rPr sz="1600" b="0">
                <a:solidFill>
                  <a:srgbClr val="1A1A1A"/>
                </a:solidFill>
                <a:latin typeface="Malgun Gothic"/>
              </a:rPr>
              <a:t>⑤ 확장: 다른 ABAP 유형 실험으로 일반화 가설을 숫자로 검증할 차례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6309360"/>
            <a:ext cx="109728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 b="0">
                <a:solidFill>
                  <a:srgbClr val="5A5A5A"/>
                </a:solidFill>
                <a:latin typeface="Malgun Gothic"/>
              </a:rPr>
              <a:t>Cursor × ABAP Skills 실험  |  11/12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F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2377440"/>
            <a:ext cx="10515600" cy="10972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600" b="1">
                <a:solidFill>
                  <a:srgbClr val="FFFFFF"/>
                </a:solidFill>
                <a:latin typeface="Malgun Gothic"/>
              </a:rPr>
              <a:t>실패를 규칙으로 축적하면,
같은 목표를 더 짧은 대화로 달성할 수 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4114800"/>
            <a:ext cx="105156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600" b="0">
                <a:solidFill>
                  <a:srgbClr val="A8C5D8"/>
                </a:solidFill>
                <a:latin typeface="Malgun Gothic"/>
              </a:rPr>
              <a:t>단, 동작 검증(Hard Gate) 없는 점수는 신뢰하지 않는다.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